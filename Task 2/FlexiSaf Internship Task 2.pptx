
<file path=[Content_Types].xml><?xml version="1.0" encoding="utf-8"?>
<Types xmlns="http://schemas.openxmlformats.org/package/2006/content-types">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6858000" cy="9144000"/>
  <p:embeddedFontLst>
    <p:embeddedFont>
      <p:font typeface="Maven Pro" charset="0"/>
      <p:regular r:id="rId10"/>
      <p:bold r:id="rId11"/>
    </p:embeddedFont>
    <p:embeddedFont>
      <p:font typeface="Montserrat" charset="0"/>
      <p:regular r:id="rId12"/>
      <p:bold r:id="rId13"/>
      <p:italic r:id="rId14"/>
      <p:boldItalic r:id="rId15"/>
    </p:embeddedFont>
    <p:embeddedFont>
      <p:font typeface="Calibri" pitchFamily="34" charset="0"/>
      <p:regular r:id="rId16"/>
      <p:bold r:id="rId17"/>
      <p:italic r:id="rId18"/>
      <p:boldItalic r:id="rId19"/>
    </p:embeddedFont>
    <p:embeddedFont>
      <p:font typeface="Nunito"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2" d="100"/>
          <a:sy n="102" d="100"/>
        </p:scale>
        <p:origin x="-456" y="22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font" Target="fonts/font14.fntdata"/><Relationship Id="rId10" Type="http://schemas.openxmlformats.org/officeDocument/2006/relationships/font" Target="fonts/font1.fntdata"/><Relationship Id="rId19"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 Id="rId22" Type="http://schemas.openxmlformats.org/officeDocument/2006/relationships/font" Target="fonts/font13.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73878873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15e08b19311e0ba5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15e08b19311e0ba5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15e08b19311e0ba5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15e08b19311e0ba5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15e08b19311e0ba5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15e08b19311e0ba5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15e08b19311e0ba5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15e08b19311e0ba5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5e08b19311e0ba5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5e08b19311e0ba5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15e08b19311e0ba5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15e08b19311e0ba5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3"/>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343003"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7801210"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801210"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259418"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259418"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259418"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717625"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717625"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717625" y="3409675"/>
                <a:ext cx="316800" cy="1732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8717625"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rot="5400000">
                <a:off x="6725724" y="2701260"/>
                <a:ext cx="1208100" cy="1208100"/>
              </a:xfrm>
              <a:prstGeom prst="pie">
                <a:avLst>
                  <a:gd name="adj1" fmla="val 8244818"/>
                  <a:gd name="adj2" fmla="val 16246175"/>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2"/>
            <p:cNvSpPr/>
            <p:nvPr/>
          </p:nvSpPr>
          <p:spPr>
            <a:xfrm>
              <a:off x="8460975" y="1817775"/>
              <a:ext cx="396600" cy="396600"/>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rot="-8647347">
                <a:off x="7831319" y="285616"/>
                <a:ext cx="388018" cy="388018"/>
              </a:xfrm>
              <a:prstGeom prst="pie">
                <a:avLst>
                  <a:gd name="adj1" fmla="val 19376841"/>
                  <a:gd name="adj2" fmla="val 12313574"/>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399795" y="360281"/>
              <a:ext cx="2577000" cy="2577000"/>
            </a:xfrm>
            <a:prstGeom prst="pie">
              <a:avLst>
                <a:gd name="adj1" fmla="val 8801158"/>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5399795" y="356358"/>
              <a:ext cx="2577000" cy="2577000"/>
            </a:xfrm>
            <a:prstGeom prst="pie">
              <a:avLst>
                <a:gd name="adj1" fmla="val 1255410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rot="-9830444">
              <a:off x="6469759" y="3480727"/>
              <a:ext cx="320148" cy="320148"/>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 name="Google Shape;46;p2"/>
          <p:cNvSpPr txBox="1">
            <a:spLocks noGrp="1"/>
          </p:cNvSpPr>
          <p:nvPr>
            <p:ph type="ctrTitle"/>
          </p:nvPr>
        </p:nvSpPr>
        <p:spPr>
          <a:xfrm>
            <a:off x="824000" y="1613813"/>
            <a:ext cx="4255500" cy="18729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47" name="Google Shape;47;p2"/>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48" name="Google Shape;48;p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rot="10800000">
                <a:off x="1063183"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rot="10800000">
                <a:off x="604976"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rot="10800000">
                <a:off x="604976"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rot="10800000">
                <a:off x="146769" y="3441"/>
                <a:ext cx="316800" cy="1384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rot="10800000">
                <a:off x="146769"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rot="10800000">
                <a:off x="146769"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6775084"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7367299"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a:off x="7367299"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7959516"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7959516"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7959516"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a:off x="8551731"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8551731"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8551731" y="2904008"/>
                <a:ext cx="409500" cy="22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8551731"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2" name="Google Shape;82;p3"/>
          <p:cNvSpPr txBox="1">
            <a:spLocks noGrp="1"/>
          </p:cNvSpPr>
          <p:nvPr>
            <p:ph type="title"/>
          </p:nvPr>
        </p:nvSpPr>
        <p:spPr>
          <a:xfrm>
            <a:off x="824000" y="1613825"/>
            <a:ext cx="5857800" cy="18729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83" name="Google Shape;83;p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4"/>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89" name="Google Shape;89;p4"/>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0" name="Google Shape;90;p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6" name="Google Shape;96;p5"/>
          <p:cNvSpPr txBox="1">
            <a:spLocks noGrp="1"/>
          </p:cNvSpPr>
          <p:nvPr>
            <p:ph type="body" idx="1"/>
          </p:nvPr>
        </p:nvSpPr>
        <p:spPr>
          <a:xfrm>
            <a:off x="1303800" y="1990050"/>
            <a:ext cx="34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7" name="Google Shape;97;p5"/>
          <p:cNvSpPr txBox="1">
            <a:spLocks noGrp="1"/>
          </p:cNvSpPr>
          <p:nvPr>
            <p:ph type="body" idx="2"/>
          </p:nvPr>
        </p:nvSpPr>
        <p:spPr>
          <a:xfrm>
            <a:off x="4903650" y="1990050"/>
            <a:ext cx="34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8" name="Google Shape;98;p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04" name="Google Shape;104;p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7"/>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 name="Google Shape;109;p7"/>
          <p:cNvSpPr txBox="1">
            <a:spLocks noGrp="1"/>
          </p:cNvSpPr>
          <p:nvPr>
            <p:ph type="title"/>
          </p:nvPr>
        </p:nvSpPr>
        <p:spPr>
          <a:xfrm>
            <a:off x="1303800" y="598575"/>
            <a:ext cx="3312000" cy="15900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10" name="Google Shape;110;p7"/>
          <p:cNvSpPr txBox="1">
            <a:spLocks noGrp="1"/>
          </p:cNvSpPr>
          <p:nvPr>
            <p:ph type="body" idx="1"/>
          </p:nvPr>
        </p:nvSpPr>
        <p:spPr>
          <a:xfrm>
            <a:off x="1303800" y="2309675"/>
            <a:ext cx="3312000" cy="22218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11" name="Google Shape;111;p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8"/>
              <p:cNvSpPr/>
              <p:nvPr/>
            </p:nvSpPr>
            <p:spPr>
              <a:xfrm rot="-8648551">
                <a:off x="7594313" y="527721"/>
                <a:ext cx="937226" cy="937226"/>
              </a:xfrm>
              <a:prstGeom prst="pie">
                <a:avLst>
                  <a:gd name="adj1" fmla="val 19376841"/>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8"/>
              <p:cNvSpPr/>
              <p:nvPr/>
            </p:nvSpPr>
            <p:spPr>
              <a:xfrm rot="2150259">
                <a:off x="8408218" y="2008610"/>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8"/>
              <p:cNvSpPr/>
              <p:nvPr/>
            </p:nvSpPr>
            <p:spPr>
              <a:xfrm rot="2150259">
                <a:off x="6868362" y="196705"/>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5" name="Google Shape;125;p8"/>
          <p:cNvSpPr txBox="1">
            <a:spLocks noGrp="1"/>
          </p:cNvSpPr>
          <p:nvPr>
            <p:ph type="title"/>
          </p:nvPr>
        </p:nvSpPr>
        <p:spPr>
          <a:xfrm>
            <a:off x="824000" y="763600"/>
            <a:ext cx="5857800" cy="35733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26" name="Google Shape;126;p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9"/>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 name="Google Shape;131;p9"/>
          <p:cNvSpPr txBox="1">
            <a:spLocks noGrp="1"/>
          </p:cNvSpPr>
          <p:nvPr>
            <p:ph type="title"/>
          </p:nvPr>
        </p:nvSpPr>
        <p:spPr>
          <a:xfrm>
            <a:off x="1303800" y="598575"/>
            <a:ext cx="3430500" cy="19902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32" name="Google Shape;132;p9"/>
          <p:cNvSpPr txBox="1">
            <a:spLocks noGrp="1"/>
          </p:cNvSpPr>
          <p:nvPr>
            <p:ph type="subTitle" idx="1"/>
          </p:nvPr>
        </p:nvSpPr>
        <p:spPr>
          <a:xfrm>
            <a:off x="1303800" y="2743203"/>
            <a:ext cx="3430500" cy="7260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33" name="Google Shape;133;p9"/>
          <p:cNvSpPr txBox="1">
            <a:spLocks noGrp="1"/>
          </p:cNvSpPr>
          <p:nvPr>
            <p:ph type="body" idx="2"/>
          </p:nvPr>
        </p:nvSpPr>
        <p:spPr>
          <a:xfrm>
            <a:off x="4903700" y="661000"/>
            <a:ext cx="3430500" cy="38706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34" name="Google Shape;134;p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0"/>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 name="Google Shape;139;p10"/>
          <p:cNvSpPr txBox="1">
            <a:spLocks noGrp="1"/>
          </p:cNvSpPr>
          <p:nvPr>
            <p:ph type="body" idx="1"/>
          </p:nvPr>
        </p:nvSpPr>
        <p:spPr>
          <a:xfrm>
            <a:off x="1303800" y="4138975"/>
            <a:ext cx="5843100" cy="534900"/>
          </a:xfrm>
          <a:prstGeom prst="rect">
            <a:avLst/>
          </a:prstGeom>
        </p:spPr>
        <p:txBody>
          <a:bodyPr spcFirstLastPara="1" wrap="square" lIns="91425" tIns="91425" rIns="91425" bIns="91425" anchor="t" anchorCtr="0">
            <a:normAutofit/>
          </a:bodyPr>
          <a:lstStyle>
            <a:lvl1pPr marL="457200" lvl="0" indent="-228600">
              <a:lnSpc>
                <a:spcPct val="100000"/>
              </a:lnSpc>
              <a:spcBef>
                <a:spcPts val="0"/>
              </a:spcBef>
              <a:spcAft>
                <a:spcPts val="0"/>
              </a:spcAft>
              <a:buSzPts val="1300"/>
              <a:buNone/>
              <a:defRPr/>
            </a:lvl1pPr>
          </a:lstStyle>
          <a:p>
            <a:endParaRPr/>
          </a:p>
        </p:txBody>
      </p:sp>
      <p:sp>
        <p:nvSpPr>
          <p:cNvPr id="140" name="Google Shape;140;p1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1"/>
              <p:cNvSpPr/>
              <p:nvPr/>
            </p:nvSpPr>
            <p:spPr>
              <a:xfrm flipH="1">
                <a:off x="2688737" y="4091380"/>
                <a:ext cx="2319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1"/>
              <p:cNvSpPr/>
              <p:nvPr/>
            </p:nvSpPr>
            <p:spPr>
              <a:xfrm flipH="1">
                <a:off x="185675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1"/>
              <p:cNvSpPr/>
              <p:nvPr/>
            </p:nvSpPr>
            <p:spPr>
              <a:xfrm flipH="1">
                <a:off x="185675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1"/>
              <p:cNvSpPr/>
              <p:nvPr/>
            </p:nvSpPr>
            <p:spPr>
              <a:xfrm flipH="1">
                <a:off x="1856753"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1"/>
              <p:cNvSpPr/>
              <p:nvPr/>
            </p:nvSpPr>
            <p:spPr>
              <a:xfrm flipH="1">
                <a:off x="185675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1"/>
              <p:cNvSpPr/>
              <p:nvPr/>
            </p:nvSpPr>
            <p:spPr>
              <a:xfrm flipH="1">
                <a:off x="2228107"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1"/>
              <p:cNvSpPr/>
              <p:nvPr/>
            </p:nvSpPr>
            <p:spPr>
              <a:xfrm flipH="1">
                <a:off x="222810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1"/>
              <p:cNvSpPr/>
              <p:nvPr/>
            </p:nvSpPr>
            <p:spPr>
              <a:xfrm flipH="1">
                <a:off x="222810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1"/>
              <p:cNvSpPr/>
              <p:nvPr/>
            </p:nvSpPr>
            <p:spPr>
              <a:xfrm flipH="1">
                <a:off x="259946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1"/>
              <p:cNvSpPr/>
              <p:nvPr/>
            </p:nvSpPr>
            <p:spPr>
              <a:xfrm flipH="1">
                <a:off x="259946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1"/>
              <p:cNvSpPr/>
              <p:nvPr/>
            </p:nvSpPr>
            <p:spPr>
              <a:xfrm flipH="1">
                <a:off x="334217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1"/>
              <p:cNvSpPr/>
              <p:nvPr/>
            </p:nvSpPr>
            <p:spPr>
              <a:xfrm flipH="1">
                <a:off x="334217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1"/>
              <p:cNvSpPr/>
              <p:nvPr/>
            </p:nvSpPr>
            <p:spPr>
              <a:xfrm flipH="1">
                <a:off x="3342171"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1"/>
              <p:cNvSpPr/>
              <p:nvPr/>
            </p:nvSpPr>
            <p:spPr>
              <a:xfrm flipH="1">
                <a:off x="334217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1"/>
              <p:cNvSpPr/>
              <p:nvPr/>
            </p:nvSpPr>
            <p:spPr>
              <a:xfrm flipH="1">
                <a:off x="3713525"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1"/>
              <p:cNvSpPr/>
              <p:nvPr/>
            </p:nvSpPr>
            <p:spPr>
              <a:xfrm flipH="1">
                <a:off x="371352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1"/>
              <p:cNvSpPr/>
              <p:nvPr/>
            </p:nvSpPr>
            <p:spPr>
              <a:xfrm flipH="1">
                <a:off x="371352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1"/>
              <p:cNvSpPr/>
              <p:nvPr/>
            </p:nvSpPr>
            <p:spPr>
              <a:xfrm flipH="1">
                <a:off x="148539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1"/>
              <p:cNvSpPr/>
              <p:nvPr/>
            </p:nvSpPr>
            <p:spPr>
              <a:xfrm flipH="1">
                <a:off x="148539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1"/>
              <p:cNvSpPr/>
              <p:nvPr/>
            </p:nvSpPr>
            <p:spPr>
              <a:xfrm flipH="1">
                <a:off x="148539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1"/>
              <p:cNvSpPr/>
              <p:nvPr/>
            </p:nvSpPr>
            <p:spPr>
              <a:xfrm flipH="1">
                <a:off x="40848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1"/>
              <p:cNvSpPr/>
              <p:nvPr/>
            </p:nvSpPr>
            <p:spPr>
              <a:xfrm flipH="1">
                <a:off x="40848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1"/>
              <p:cNvSpPr/>
              <p:nvPr/>
            </p:nvSpPr>
            <p:spPr>
              <a:xfrm flipH="1">
                <a:off x="297081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1"/>
              <p:cNvSpPr/>
              <p:nvPr/>
            </p:nvSpPr>
            <p:spPr>
              <a:xfrm flipH="1">
                <a:off x="297081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1"/>
              <p:cNvSpPr/>
              <p:nvPr/>
            </p:nvSpPr>
            <p:spPr>
              <a:xfrm flipH="1">
                <a:off x="297081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1"/>
              <p:cNvSpPr/>
              <p:nvPr/>
            </p:nvSpPr>
            <p:spPr>
              <a:xfrm flipH="1">
                <a:off x="445623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1"/>
              <p:cNvSpPr/>
              <p:nvPr/>
            </p:nvSpPr>
            <p:spPr>
              <a:xfrm flipH="1">
                <a:off x="445623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1"/>
              <p:cNvSpPr/>
              <p:nvPr/>
            </p:nvSpPr>
            <p:spPr>
              <a:xfrm flipH="1">
                <a:off x="445623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1"/>
              <p:cNvSpPr/>
              <p:nvPr/>
            </p:nvSpPr>
            <p:spPr>
              <a:xfrm flipH="1">
                <a:off x="48275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1"/>
              <p:cNvSpPr/>
              <p:nvPr/>
            </p:nvSpPr>
            <p:spPr>
              <a:xfrm flipH="1">
                <a:off x="48275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1"/>
              <p:cNvSpPr/>
              <p:nvPr/>
            </p:nvSpPr>
            <p:spPr>
              <a:xfrm flipH="1">
                <a:off x="4827588"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1"/>
              <p:cNvSpPr/>
              <p:nvPr/>
            </p:nvSpPr>
            <p:spPr>
              <a:xfrm flipH="1">
                <a:off x="48275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1"/>
              <p:cNvSpPr/>
              <p:nvPr/>
            </p:nvSpPr>
            <p:spPr>
              <a:xfrm flipH="1">
                <a:off x="519894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1"/>
              <p:cNvSpPr/>
              <p:nvPr/>
            </p:nvSpPr>
            <p:spPr>
              <a:xfrm flipH="1">
                <a:off x="519894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1"/>
              <p:cNvSpPr/>
              <p:nvPr/>
            </p:nvSpPr>
            <p:spPr>
              <a:xfrm flipH="1">
                <a:off x="519894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1"/>
              <p:cNvSpPr/>
              <p:nvPr/>
            </p:nvSpPr>
            <p:spPr>
              <a:xfrm flipH="1">
                <a:off x="557029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1"/>
              <p:cNvSpPr/>
              <p:nvPr/>
            </p:nvSpPr>
            <p:spPr>
              <a:xfrm flipH="1">
                <a:off x="557029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1"/>
              <p:cNvSpPr/>
              <p:nvPr/>
            </p:nvSpPr>
            <p:spPr>
              <a:xfrm flipH="1">
                <a:off x="5941652"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1"/>
              <p:cNvSpPr/>
              <p:nvPr/>
            </p:nvSpPr>
            <p:spPr>
              <a:xfrm flipH="1">
                <a:off x="594165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1"/>
              <p:cNvSpPr/>
              <p:nvPr/>
            </p:nvSpPr>
            <p:spPr>
              <a:xfrm flipH="1">
                <a:off x="594165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1"/>
              <p:cNvSpPr/>
              <p:nvPr/>
            </p:nvSpPr>
            <p:spPr>
              <a:xfrm flipH="1">
                <a:off x="631300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1"/>
              <p:cNvSpPr/>
              <p:nvPr/>
            </p:nvSpPr>
            <p:spPr>
              <a:xfrm flipH="1">
                <a:off x="631300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1"/>
              <p:cNvSpPr/>
              <p:nvPr/>
            </p:nvSpPr>
            <p:spPr>
              <a:xfrm flipH="1">
                <a:off x="6313006"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1"/>
              <p:cNvSpPr/>
              <p:nvPr/>
            </p:nvSpPr>
            <p:spPr>
              <a:xfrm flipH="1">
                <a:off x="631300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1"/>
              <p:cNvSpPr/>
              <p:nvPr/>
            </p:nvSpPr>
            <p:spPr>
              <a:xfrm flipH="1">
                <a:off x="668436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1"/>
              <p:cNvSpPr/>
              <p:nvPr/>
            </p:nvSpPr>
            <p:spPr>
              <a:xfrm flipH="1">
                <a:off x="668436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1"/>
              <p:cNvSpPr/>
              <p:nvPr/>
            </p:nvSpPr>
            <p:spPr>
              <a:xfrm flipH="1">
                <a:off x="668436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1"/>
              <p:cNvSpPr/>
              <p:nvPr/>
            </p:nvSpPr>
            <p:spPr>
              <a:xfrm flipH="1">
                <a:off x="705571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1"/>
              <p:cNvSpPr/>
              <p:nvPr/>
            </p:nvSpPr>
            <p:spPr>
              <a:xfrm flipH="1">
                <a:off x="705571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1"/>
              <p:cNvSpPr/>
              <p:nvPr/>
            </p:nvSpPr>
            <p:spPr>
              <a:xfrm flipH="1">
                <a:off x="779842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1"/>
              <p:cNvSpPr/>
              <p:nvPr/>
            </p:nvSpPr>
            <p:spPr>
              <a:xfrm flipH="1">
                <a:off x="779842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1"/>
              <p:cNvSpPr/>
              <p:nvPr/>
            </p:nvSpPr>
            <p:spPr>
              <a:xfrm flipH="1">
                <a:off x="7798424"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1"/>
              <p:cNvSpPr/>
              <p:nvPr/>
            </p:nvSpPr>
            <p:spPr>
              <a:xfrm flipH="1">
                <a:off x="779842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1"/>
              <p:cNvSpPr/>
              <p:nvPr/>
            </p:nvSpPr>
            <p:spPr>
              <a:xfrm flipH="1">
                <a:off x="8169779"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1"/>
              <p:cNvSpPr/>
              <p:nvPr/>
            </p:nvSpPr>
            <p:spPr>
              <a:xfrm flipH="1">
                <a:off x="81697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1"/>
              <p:cNvSpPr/>
              <p:nvPr/>
            </p:nvSpPr>
            <p:spPr>
              <a:xfrm flipH="1">
                <a:off x="81697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1"/>
              <p:cNvSpPr/>
              <p:nvPr/>
            </p:nvSpPr>
            <p:spPr>
              <a:xfrm flipH="1">
                <a:off x="7427070"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1"/>
              <p:cNvSpPr/>
              <p:nvPr/>
            </p:nvSpPr>
            <p:spPr>
              <a:xfrm flipH="1">
                <a:off x="7427070"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1"/>
              <p:cNvSpPr/>
              <p:nvPr/>
            </p:nvSpPr>
            <p:spPr>
              <a:xfrm flipH="1">
                <a:off x="7427070"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1"/>
              <p:cNvSpPr/>
              <p:nvPr/>
            </p:nvSpPr>
            <p:spPr>
              <a:xfrm flipH="1">
                <a:off x="854113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1"/>
              <p:cNvSpPr/>
              <p:nvPr/>
            </p:nvSpPr>
            <p:spPr>
              <a:xfrm flipH="1">
                <a:off x="854113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1"/>
              <p:cNvSpPr/>
              <p:nvPr/>
            </p:nvSpPr>
            <p:spPr>
              <a:xfrm flipH="1">
                <a:off x="89124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1"/>
              <p:cNvSpPr/>
              <p:nvPr/>
            </p:nvSpPr>
            <p:spPr>
              <a:xfrm flipH="1">
                <a:off x="89124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1"/>
              <p:cNvSpPr/>
              <p:nvPr/>
            </p:nvSpPr>
            <p:spPr>
              <a:xfrm flipH="1">
                <a:off x="89124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68" name="Google Shape;268;p11"/>
          <p:cNvSpPr txBox="1">
            <a:spLocks noGrp="1"/>
          </p:cNvSpPr>
          <p:nvPr>
            <p:ph type="title" hasCustomPrompt="1"/>
          </p:nvPr>
        </p:nvSpPr>
        <p:spPr>
          <a:xfrm>
            <a:off x="1388625" y="772725"/>
            <a:ext cx="6366900" cy="18633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a:spLocks noGrp="1"/>
          </p:cNvSpPr>
          <p:nvPr>
            <p:ph type="body" idx="1"/>
          </p:nvPr>
        </p:nvSpPr>
        <p:spPr>
          <a:xfrm>
            <a:off x="1388625" y="2712300"/>
            <a:ext cx="6366900" cy="1111200"/>
          </a:xfrm>
          <a:prstGeom prst="rect">
            <a:avLst/>
          </a:prstGeom>
        </p:spPr>
        <p:txBody>
          <a:bodyPr spcFirstLastPara="1" wrap="square" lIns="91425" tIns="91425" rIns="91425" bIns="91425" anchor="t" anchorCtr="0">
            <a:normAutofit/>
          </a:bodyPr>
          <a:lstStyle>
            <a:lvl1pPr marL="457200" lvl="0" indent="-311150" algn="ctr">
              <a:spcBef>
                <a:spcPts val="0"/>
              </a:spcBef>
              <a:spcAft>
                <a:spcPts val="0"/>
              </a:spcAft>
              <a:buClr>
                <a:schemeClr val="lt1"/>
              </a:buClr>
              <a:buSzPts val="1300"/>
              <a:buChar char="●"/>
              <a:defRPr>
                <a:solidFill>
                  <a:schemeClr val="lt1"/>
                </a:solidFill>
              </a:defRPr>
            </a:lvl1pPr>
            <a:lvl2pPr marL="914400" lvl="1" indent="-298450" algn="ctr">
              <a:spcBef>
                <a:spcPts val="0"/>
              </a:spcBef>
              <a:spcAft>
                <a:spcPts val="0"/>
              </a:spcAft>
              <a:buClr>
                <a:schemeClr val="lt1"/>
              </a:buClr>
              <a:buSzPts val="1100"/>
              <a:buChar char="○"/>
              <a:defRPr>
                <a:solidFill>
                  <a:schemeClr val="lt1"/>
                </a:solidFill>
              </a:defRPr>
            </a:lvl2pPr>
            <a:lvl3pPr marL="1371600" lvl="2" indent="-298450" algn="ctr">
              <a:spcBef>
                <a:spcPts val="0"/>
              </a:spcBef>
              <a:spcAft>
                <a:spcPts val="0"/>
              </a:spcAft>
              <a:buClr>
                <a:schemeClr val="lt1"/>
              </a:buClr>
              <a:buSzPts val="1100"/>
              <a:buChar char="■"/>
              <a:defRPr>
                <a:solidFill>
                  <a:schemeClr val="lt1"/>
                </a:solidFill>
              </a:defRPr>
            </a:lvl3pPr>
            <a:lvl4pPr marL="1828800" lvl="3" indent="-298450" algn="ctr">
              <a:spcBef>
                <a:spcPts val="0"/>
              </a:spcBef>
              <a:spcAft>
                <a:spcPts val="0"/>
              </a:spcAft>
              <a:buClr>
                <a:schemeClr val="lt1"/>
              </a:buClr>
              <a:buSzPts val="1100"/>
              <a:buChar char="●"/>
              <a:defRPr>
                <a:solidFill>
                  <a:schemeClr val="lt1"/>
                </a:solidFill>
              </a:defRPr>
            </a:lvl4pPr>
            <a:lvl5pPr marL="2286000" lvl="4" indent="-298450" algn="ctr">
              <a:spcBef>
                <a:spcPts val="0"/>
              </a:spcBef>
              <a:spcAft>
                <a:spcPts val="0"/>
              </a:spcAft>
              <a:buClr>
                <a:schemeClr val="lt1"/>
              </a:buClr>
              <a:buSzPts val="1100"/>
              <a:buChar char="○"/>
              <a:defRPr>
                <a:solidFill>
                  <a:schemeClr val="lt1"/>
                </a:solidFill>
              </a:defRPr>
            </a:lvl5pPr>
            <a:lvl6pPr marL="2743200" lvl="5" indent="-298450" algn="ctr">
              <a:spcBef>
                <a:spcPts val="0"/>
              </a:spcBef>
              <a:spcAft>
                <a:spcPts val="0"/>
              </a:spcAft>
              <a:buClr>
                <a:schemeClr val="lt1"/>
              </a:buClr>
              <a:buSzPts val="1100"/>
              <a:buChar char="■"/>
              <a:defRPr>
                <a:solidFill>
                  <a:schemeClr val="lt1"/>
                </a:solidFill>
              </a:defRPr>
            </a:lvl6pPr>
            <a:lvl7pPr marL="3200400" lvl="6" indent="-298450" algn="ctr">
              <a:spcBef>
                <a:spcPts val="0"/>
              </a:spcBef>
              <a:spcAft>
                <a:spcPts val="0"/>
              </a:spcAft>
              <a:buClr>
                <a:schemeClr val="lt1"/>
              </a:buClr>
              <a:buSzPts val="1100"/>
              <a:buChar char="●"/>
              <a:defRPr>
                <a:solidFill>
                  <a:schemeClr val="lt1"/>
                </a:solidFill>
              </a:defRPr>
            </a:lvl7pPr>
            <a:lvl8pPr marL="3657600" lvl="7" indent="-298450" algn="ctr">
              <a:spcBef>
                <a:spcPts val="0"/>
              </a:spcBef>
              <a:spcAft>
                <a:spcPts val="0"/>
              </a:spcAft>
              <a:buClr>
                <a:schemeClr val="lt1"/>
              </a:buClr>
              <a:buSzPts val="1100"/>
              <a:buChar char="○"/>
              <a:defRPr>
                <a:solidFill>
                  <a:schemeClr val="lt1"/>
                </a:solidFill>
              </a:defRPr>
            </a:lvl8pPr>
            <a:lvl9pPr marL="4114800" lvl="8" indent="-298450" algn="ctr">
              <a:spcBef>
                <a:spcPts val="0"/>
              </a:spcBef>
              <a:spcAft>
                <a:spcPts val="0"/>
              </a:spcAft>
              <a:buClr>
                <a:schemeClr val="lt1"/>
              </a:buClr>
              <a:buSzPts val="1100"/>
              <a:buChar char="■"/>
              <a:defRPr>
                <a:solidFill>
                  <a:schemeClr val="lt1"/>
                </a:solidFill>
              </a:defRPr>
            </a:lvl9pPr>
          </a:lstStyle>
          <a:p>
            <a:endParaRPr/>
          </a:p>
        </p:txBody>
      </p:sp>
      <p:sp>
        <p:nvSpPr>
          <p:cNvPr id="270" name="Google Shape;270;p1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1"/>
        <p:cNvGrpSpPr/>
        <p:nvPr/>
      </p:nvGrpSpPr>
      <p:grpSpPr>
        <a:xfrm>
          <a:off x="0" y="0"/>
          <a:ext cx="0" cy="0"/>
          <a:chOff x="0" y="0"/>
          <a:chExt cx="0" cy="0"/>
        </a:xfrm>
      </p:grpSpPr>
      <p:sp>
        <p:nvSpPr>
          <p:cNvPr id="272" name="Google Shape;272;p1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omentu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marL="914400" lvl="1"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marL="1371600" lvl="2"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marL="1828800" lvl="3"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marL="2286000" lvl="4"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marL="2743200" lvl="5"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marL="3200400" lvl="6"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marL="3657600" lvl="7"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marL="4114800" lvl="8"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a:endParaRPr/>
          </a:p>
        </p:txBody>
      </p:sp>
      <p:sp>
        <p:nvSpPr>
          <p:cNvPr id="8" name="Google Shape;8;p1"/>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lnSpcReduction="10000"/>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C4587"/>
        </a:solidFill>
        <a:effectLst/>
      </p:bgPr>
    </p:bg>
    <p:spTree>
      <p:nvGrpSpPr>
        <p:cNvPr id="1" name="Shape 276"/>
        <p:cNvGrpSpPr/>
        <p:nvPr/>
      </p:nvGrpSpPr>
      <p:grpSpPr>
        <a:xfrm>
          <a:off x="0" y="0"/>
          <a:ext cx="0" cy="0"/>
          <a:chOff x="0" y="0"/>
          <a:chExt cx="0" cy="0"/>
        </a:xfrm>
      </p:grpSpPr>
      <p:sp>
        <p:nvSpPr>
          <p:cNvPr id="277" name="Google Shape;277;p13"/>
          <p:cNvSpPr txBox="1">
            <a:spLocks noGrp="1"/>
          </p:cNvSpPr>
          <p:nvPr>
            <p:ph type="ctrTitle"/>
          </p:nvPr>
        </p:nvSpPr>
        <p:spPr>
          <a:xfrm>
            <a:off x="265568" y="1202350"/>
            <a:ext cx="8731500" cy="18729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b="0" dirty="0">
                <a:latin typeface="Montserrat"/>
                <a:ea typeface="Montserrat"/>
                <a:cs typeface="Montserrat"/>
                <a:sym typeface="Montserrat"/>
              </a:rPr>
              <a:t>Advanced Frontend Development</a:t>
            </a:r>
            <a:endParaRPr b="0" dirty="0">
              <a:latin typeface="Montserrat"/>
              <a:ea typeface="Montserrat"/>
              <a:cs typeface="Montserrat"/>
              <a:sym typeface="Montserrat"/>
            </a:endParaRPr>
          </a:p>
          <a:p>
            <a:pPr marL="0" lvl="0" indent="0" algn="l" rtl="0">
              <a:spcBef>
                <a:spcPts val="0"/>
              </a:spcBef>
              <a:spcAft>
                <a:spcPts val="0"/>
              </a:spcAft>
              <a:buNone/>
            </a:pPr>
            <a:r>
              <a:rPr lang="en" b="0" dirty="0" smtClean="0">
                <a:latin typeface="Montserrat"/>
                <a:ea typeface="Montserrat"/>
                <a:cs typeface="Montserrat"/>
                <a:sym typeface="Montserrat"/>
              </a:rPr>
              <a:t>Version Control</a:t>
            </a:r>
            <a:endParaRPr b="0" dirty="0">
              <a:latin typeface="Montserrat"/>
              <a:ea typeface="Montserrat"/>
              <a:cs typeface="Montserrat"/>
              <a:sym typeface="Montserrat"/>
            </a:endParaRPr>
          </a:p>
          <a:p>
            <a:pPr marL="0" lvl="0" indent="0" algn="l" rtl="0">
              <a:spcBef>
                <a:spcPts val="0"/>
              </a:spcBef>
              <a:spcAft>
                <a:spcPts val="0"/>
              </a:spcAft>
              <a:buNone/>
            </a:pPr>
            <a:r>
              <a:rPr lang="en" b="0" dirty="0">
                <a:latin typeface="Montserrat"/>
                <a:ea typeface="Montserrat"/>
                <a:cs typeface="Montserrat"/>
                <a:sym typeface="Montserrat"/>
              </a:rPr>
              <a:t>Task </a:t>
            </a:r>
            <a:r>
              <a:rPr lang="en" b="0" dirty="0" smtClean="0">
                <a:latin typeface="Montserrat"/>
                <a:ea typeface="Montserrat"/>
                <a:cs typeface="Montserrat"/>
                <a:sym typeface="Montserrat"/>
              </a:rPr>
              <a:t>2</a:t>
            </a:r>
            <a:endParaRPr b="0" dirty="0">
              <a:latin typeface="Montserrat"/>
              <a:ea typeface="Montserrat"/>
              <a:cs typeface="Montserrat"/>
              <a:sym typeface="Montserrat"/>
            </a:endParaRPr>
          </a:p>
        </p:txBody>
      </p:sp>
      <p:sp>
        <p:nvSpPr>
          <p:cNvPr id="278" name="Google Shape;278;p13"/>
          <p:cNvSpPr txBox="1">
            <a:spLocks noGrp="1"/>
          </p:cNvSpPr>
          <p:nvPr>
            <p:ph type="subTitle" idx="1"/>
          </p:nvPr>
        </p:nvSpPr>
        <p:spPr>
          <a:xfrm>
            <a:off x="427200" y="3075250"/>
            <a:ext cx="4255500" cy="1416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latin typeface="Montserrat"/>
                <a:ea typeface="Montserrat"/>
                <a:cs typeface="Montserrat"/>
                <a:sym typeface="Montserrat"/>
              </a:rPr>
              <a:t>Compiled by Yusuf Abu-safyan</a:t>
            </a:r>
            <a:endParaRPr>
              <a:latin typeface="Montserrat"/>
              <a:ea typeface="Montserrat"/>
              <a:cs typeface="Montserrat"/>
              <a:sym typeface="Montserrat"/>
            </a:endParaRPr>
          </a:p>
          <a:p>
            <a:pPr marL="0" lvl="0" indent="0" algn="l" rtl="0">
              <a:spcBef>
                <a:spcPts val="0"/>
              </a:spcBef>
              <a:spcAft>
                <a:spcPts val="0"/>
              </a:spcAft>
              <a:buNone/>
            </a:pPr>
            <a:endParaRPr>
              <a:latin typeface="Montserrat"/>
              <a:ea typeface="Montserrat"/>
              <a:cs typeface="Montserrat"/>
              <a:sym typeface="Montserrat"/>
            </a:endParaRPr>
          </a:p>
          <a:p>
            <a:pPr marL="0" lvl="0" indent="0" algn="l" rtl="0">
              <a:spcBef>
                <a:spcPts val="0"/>
              </a:spcBef>
              <a:spcAft>
                <a:spcPts val="0"/>
              </a:spcAft>
              <a:buNone/>
            </a:pPr>
            <a:r>
              <a:rPr lang="en">
                <a:latin typeface="Montserrat"/>
                <a:ea typeface="Montserrat"/>
                <a:cs typeface="Montserrat"/>
                <a:sym typeface="Montserrat"/>
              </a:rPr>
              <a:t>https://github.com/Sufyan-codes/FlexiSaf-Internship.git</a:t>
            </a:r>
            <a:endParaRPr>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C4587"/>
        </a:solidFill>
        <a:effectLst/>
      </p:bgPr>
    </p:bg>
    <p:spTree>
      <p:nvGrpSpPr>
        <p:cNvPr id="1" name="Shape 282"/>
        <p:cNvGrpSpPr/>
        <p:nvPr/>
      </p:nvGrpSpPr>
      <p:grpSpPr>
        <a:xfrm>
          <a:off x="0" y="0"/>
          <a:ext cx="0" cy="0"/>
          <a:chOff x="0" y="0"/>
          <a:chExt cx="0" cy="0"/>
        </a:xfrm>
      </p:grpSpPr>
      <p:sp>
        <p:nvSpPr>
          <p:cNvPr id="283" name="Google Shape;283;p14"/>
          <p:cNvSpPr txBox="1">
            <a:spLocks noGrp="1"/>
          </p:cNvSpPr>
          <p:nvPr>
            <p:ph type="ctrTitle"/>
          </p:nvPr>
        </p:nvSpPr>
        <p:spPr>
          <a:xfrm>
            <a:off x="471299" y="323300"/>
            <a:ext cx="3718146" cy="8082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smtClean="0"/>
              <a:t>Version Control</a:t>
            </a:r>
            <a:endParaRPr dirty="0"/>
          </a:p>
        </p:txBody>
      </p:sp>
      <p:sp>
        <p:nvSpPr>
          <p:cNvPr id="284" name="Google Shape;284;p14"/>
          <p:cNvSpPr txBox="1"/>
          <p:nvPr/>
        </p:nvSpPr>
        <p:spPr>
          <a:xfrm>
            <a:off x="558450" y="1131500"/>
            <a:ext cx="8009100" cy="3468000"/>
          </a:xfrm>
          <a:prstGeom prst="rect">
            <a:avLst/>
          </a:prstGeom>
          <a:noFill/>
          <a:ln>
            <a:noFill/>
          </a:ln>
        </p:spPr>
        <p:txBody>
          <a:bodyPr spcFirstLastPara="1" wrap="square" lIns="91425" tIns="91425" rIns="91425" bIns="91425" anchor="t" anchorCtr="0">
            <a:noAutofit/>
          </a:bodyPr>
          <a:lstStyle/>
          <a:p>
            <a:pPr lvl="0"/>
            <a:r>
              <a:rPr lang="en-US" sz="1600" dirty="0">
                <a:solidFill>
                  <a:schemeClr val="bg1"/>
                </a:solidFill>
              </a:rPr>
              <a:t>Version control is the practice of tracking and managing changes to files, most commonly source code, over time using specialized software tools called version control systems (VCS). It allows teams to collaborate effectively by creating a detailed history of all modifications, enabling users to revert to previous versions, compare changes, and merge contributions from different sources, ultimately protecting against data loss and facilitating code integrity and efficient development</a:t>
            </a:r>
            <a:r>
              <a:rPr lang="en-US" sz="1600" dirty="0" smtClean="0">
                <a:solidFill>
                  <a:schemeClr val="bg1"/>
                </a:solidFill>
              </a:rPr>
              <a:t>. Example of </a:t>
            </a:r>
            <a:r>
              <a:rPr lang="en-US" sz="1600" dirty="0" err="1" smtClean="0">
                <a:solidFill>
                  <a:schemeClr val="bg1"/>
                </a:solidFill>
              </a:rPr>
              <a:t>softwares</a:t>
            </a:r>
            <a:r>
              <a:rPr lang="en-US" sz="1600" dirty="0" smtClean="0">
                <a:solidFill>
                  <a:schemeClr val="bg1"/>
                </a:solidFill>
              </a:rPr>
              <a:t> that are prominently used are </a:t>
            </a:r>
            <a:r>
              <a:rPr lang="en-US" sz="1600" dirty="0" err="1" smtClean="0">
                <a:solidFill>
                  <a:schemeClr val="bg1"/>
                </a:solidFill>
              </a:rPr>
              <a:t>Github</a:t>
            </a:r>
            <a:r>
              <a:rPr lang="en-US" sz="1600" dirty="0" smtClean="0">
                <a:solidFill>
                  <a:schemeClr val="bg1"/>
                </a:solidFill>
              </a:rPr>
              <a:t> and </a:t>
            </a:r>
            <a:r>
              <a:rPr lang="en-US" sz="1600" dirty="0" err="1" smtClean="0">
                <a:solidFill>
                  <a:schemeClr val="bg1"/>
                </a:solidFill>
              </a:rPr>
              <a:t>Bitbucket</a:t>
            </a:r>
            <a:r>
              <a:rPr lang="en-US" sz="1600" dirty="0">
                <a:solidFill>
                  <a:schemeClr val="bg1"/>
                </a:solidFill>
              </a:rPr>
              <a:t> </a:t>
            </a:r>
            <a:endParaRPr sz="1600" dirty="0">
              <a:solidFill>
                <a:schemeClr val="bg1"/>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C4587"/>
        </a:solidFill>
        <a:effectLst/>
      </p:bgPr>
    </p:bg>
    <p:spTree>
      <p:nvGrpSpPr>
        <p:cNvPr id="1" name="Shape 288"/>
        <p:cNvGrpSpPr/>
        <p:nvPr/>
      </p:nvGrpSpPr>
      <p:grpSpPr>
        <a:xfrm>
          <a:off x="0" y="0"/>
          <a:ext cx="0" cy="0"/>
          <a:chOff x="0" y="0"/>
          <a:chExt cx="0" cy="0"/>
        </a:xfrm>
      </p:grpSpPr>
      <p:sp>
        <p:nvSpPr>
          <p:cNvPr id="289" name="Google Shape;289;p15"/>
          <p:cNvSpPr txBox="1">
            <a:spLocks noGrp="1"/>
          </p:cNvSpPr>
          <p:nvPr>
            <p:ph type="ctrTitle"/>
          </p:nvPr>
        </p:nvSpPr>
        <p:spPr>
          <a:xfrm>
            <a:off x="824000" y="453954"/>
            <a:ext cx="4255500" cy="6954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 dirty="0" smtClean="0"/>
              <a:t>Creating Repository</a:t>
            </a:r>
            <a:endParaRPr dirty="0"/>
          </a:p>
        </p:txBody>
      </p:sp>
      <p:sp>
        <p:nvSpPr>
          <p:cNvPr id="290" name="Google Shape;290;p15"/>
          <p:cNvSpPr txBox="1">
            <a:spLocks noGrp="1"/>
          </p:cNvSpPr>
          <p:nvPr>
            <p:ph type="subTitle" idx="1"/>
          </p:nvPr>
        </p:nvSpPr>
        <p:spPr>
          <a:xfrm>
            <a:off x="570450" y="1547725"/>
            <a:ext cx="7601100" cy="359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dirty="0" err="1" smtClean="0">
                <a:latin typeface="Montserrat"/>
                <a:ea typeface="Montserrat"/>
                <a:cs typeface="Montserrat"/>
                <a:sym typeface="Montserrat"/>
              </a:rPr>
              <a:t>Github</a:t>
            </a:r>
            <a:r>
              <a:rPr lang="en-US" dirty="0" smtClean="0">
                <a:latin typeface="Montserrat"/>
                <a:ea typeface="Montserrat"/>
                <a:cs typeface="Montserrat"/>
                <a:sym typeface="Montserrat"/>
              </a:rPr>
              <a:t> </a:t>
            </a:r>
            <a:r>
              <a:rPr lang="en-US" dirty="0" err="1" smtClean="0">
                <a:latin typeface="Montserrat"/>
                <a:ea typeface="Montserrat"/>
                <a:cs typeface="Montserrat"/>
                <a:sym typeface="Montserrat"/>
              </a:rPr>
              <a:t>Repoository</a:t>
            </a:r>
            <a:r>
              <a:rPr lang="en-US" dirty="0" smtClean="0">
                <a:latin typeface="Montserrat"/>
                <a:ea typeface="Montserrat"/>
                <a:cs typeface="Montserrat"/>
                <a:sym typeface="Montserrat"/>
              </a:rPr>
              <a:t> is simply the folder which the code/software is stored on </a:t>
            </a:r>
            <a:r>
              <a:rPr lang="en-US" dirty="0" err="1" smtClean="0">
                <a:latin typeface="Montserrat"/>
                <a:ea typeface="Montserrat"/>
                <a:cs typeface="Montserrat"/>
                <a:sym typeface="Montserrat"/>
              </a:rPr>
              <a:t>github</a:t>
            </a:r>
            <a:r>
              <a:rPr lang="en-US" dirty="0" smtClean="0">
                <a:latin typeface="Montserrat"/>
                <a:ea typeface="Montserrat"/>
                <a:cs typeface="Montserrat"/>
                <a:sym typeface="Montserrat"/>
              </a:rPr>
              <a:t>.</a:t>
            </a:r>
          </a:p>
          <a:p>
            <a:pPr marL="0" lvl="0" indent="0" algn="l" rtl="0">
              <a:spcBef>
                <a:spcPts val="0"/>
              </a:spcBef>
              <a:spcAft>
                <a:spcPts val="0"/>
              </a:spcAft>
              <a:buNone/>
            </a:pPr>
            <a:r>
              <a:rPr lang="en-US" dirty="0" smtClean="0">
                <a:latin typeface="Montserrat"/>
                <a:ea typeface="Montserrat"/>
                <a:cs typeface="Montserrat"/>
                <a:sym typeface="Montserrat"/>
              </a:rPr>
              <a:t>It can be created either using command line or using </a:t>
            </a:r>
            <a:r>
              <a:rPr lang="en-US" dirty="0" err="1" smtClean="0">
                <a:latin typeface="Montserrat"/>
                <a:ea typeface="Montserrat"/>
                <a:cs typeface="Montserrat"/>
                <a:sym typeface="Montserrat"/>
              </a:rPr>
              <a:t>github</a:t>
            </a:r>
            <a:r>
              <a:rPr lang="en-US" dirty="0" smtClean="0">
                <a:latin typeface="Montserrat"/>
                <a:ea typeface="Montserrat"/>
                <a:cs typeface="Montserrat"/>
                <a:sym typeface="Montserrat"/>
              </a:rPr>
              <a:t> desktop software version.</a:t>
            </a:r>
          </a:p>
          <a:p>
            <a:pPr marL="0" lvl="0" indent="0" algn="l" rtl="0">
              <a:spcBef>
                <a:spcPts val="0"/>
              </a:spcBef>
              <a:spcAft>
                <a:spcPts val="0"/>
              </a:spcAft>
              <a:buNone/>
            </a:pPr>
            <a:endParaRPr lang="en-US" dirty="0">
              <a:latin typeface="Montserrat"/>
              <a:ea typeface="Montserrat"/>
              <a:cs typeface="Montserrat"/>
              <a:sym typeface="Montserrat"/>
            </a:endParaRPr>
          </a:p>
          <a:p>
            <a:pPr marL="0" lvl="0" indent="0" algn="l" rtl="0">
              <a:spcBef>
                <a:spcPts val="0"/>
              </a:spcBef>
              <a:spcAft>
                <a:spcPts val="0"/>
              </a:spcAft>
              <a:buNone/>
            </a:pPr>
            <a:r>
              <a:rPr lang="en-US" dirty="0" smtClean="0">
                <a:latin typeface="Montserrat"/>
                <a:ea typeface="Montserrat"/>
                <a:cs typeface="Montserrat"/>
                <a:sym typeface="Montserrat"/>
              </a:rPr>
              <a:t>We can use the following commands to initialize a </a:t>
            </a:r>
            <a:r>
              <a:rPr lang="en-US" dirty="0" err="1" smtClean="0">
                <a:latin typeface="Montserrat"/>
                <a:ea typeface="Montserrat"/>
                <a:cs typeface="Montserrat"/>
                <a:sym typeface="Montserrat"/>
              </a:rPr>
              <a:t>github</a:t>
            </a:r>
            <a:r>
              <a:rPr lang="en-US" dirty="0" smtClean="0">
                <a:latin typeface="Montserrat"/>
                <a:ea typeface="Montserrat"/>
                <a:cs typeface="Montserrat"/>
                <a:sym typeface="Montserrat"/>
              </a:rPr>
              <a:t> repository</a:t>
            </a:r>
          </a:p>
          <a:p>
            <a:pPr marL="285750" lvl="0" indent="-285750" algn="l" rtl="0">
              <a:spcBef>
                <a:spcPts val="0"/>
              </a:spcBef>
              <a:spcAft>
                <a:spcPts val="0"/>
              </a:spcAft>
              <a:buFont typeface="Arial" pitchFamily="34" charset="0"/>
              <a:buChar char="•"/>
            </a:pPr>
            <a:r>
              <a:rPr lang="en-US" dirty="0" err="1" smtClean="0">
                <a:latin typeface="Montserrat"/>
                <a:ea typeface="Montserrat"/>
                <a:cs typeface="Montserrat"/>
                <a:sym typeface="Montserrat"/>
              </a:rPr>
              <a:t>Git</a:t>
            </a:r>
            <a:r>
              <a:rPr lang="en-US" dirty="0" smtClean="0">
                <a:latin typeface="Montserrat"/>
                <a:ea typeface="Montserrat"/>
                <a:cs typeface="Montserrat"/>
                <a:sym typeface="Montserrat"/>
              </a:rPr>
              <a:t> </a:t>
            </a:r>
            <a:r>
              <a:rPr lang="en-US" dirty="0" err="1" smtClean="0">
                <a:latin typeface="Montserrat"/>
                <a:ea typeface="Montserrat"/>
                <a:cs typeface="Montserrat"/>
                <a:sym typeface="Montserrat"/>
              </a:rPr>
              <a:t>init</a:t>
            </a:r>
            <a:r>
              <a:rPr lang="en-US" dirty="0">
                <a:latin typeface="Montserrat"/>
                <a:ea typeface="Montserrat"/>
                <a:cs typeface="Montserrat"/>
                <a:sym typeface="Montserrat"/>
              </a:rPr>
              <a:t> </a:t>
            </a:r>
            <a:r>
              <a:rPr lang="en-US" dirty="0" smtClean="0">
                <a:latin typeface="Montserrat"/>
                <a:ea typeface="Montserrat"/>
                <a:cs typeface="Montserrat"/>
                <a:sym typeface="Montserrat"/>
              </a:rPr>
              <a:t>(initializing a local repository)</a:t>
            </a:r>
          </a:p>
          <a:p>
            <a:pPr marL="285750" lvl="0" indent="-285750" algn="l" rtl="0">
              <a:spcBef>
                <a:spcPts val="0"/>
              </a:spcBef>
              <a:spcAft>
                <a:spcPts val="0"/>
              </a:spcAft>
              <a:buFont typeface="Arial" pitchFamily="34" charset="0"/>
              <a:buChar char="•"/>
            </a:pPr>
            <a:r>
              <a:rPr lang="en-US" dirty="0" smtClean="0">
                <a:latin typeface="Montserrat"/>
                <a:ea typeface="Montserrat"/>
                <a:cs typeface="Montserrat"/>
                <a:sym typeface="Montserrat"/>
              </a:rPr>
              <a:t>Then we write the code or update the code on the repository</a:t>
            </a:r>
          </a:p>
          <a:p>
            <a:pPr marL="285750" lvl="0" indent="-285750" algn="l" rtl="0">
              <a:spcBef>
                <a:spcPts val="0"/>
              </a:spcBef>
              <a:spcAft>
                <a:spcPts val="0"/>
              </a:spcAft>
              <a:buFont typeface="Arial" pitchFamily="34" charset="0"/>
              <a:buChar char="•"/>
            </a:pPr>
            <a:r>
              <a:rPr lang="en-US" dirty="0" smtClean="0">
                <a:latin typeface="Montserrat"/>
                <a:ea typeface="Montserrat"/>
                <a:cs typeface="Montserrat"/>
                <a:sym typeface="Montserrat"/>
              </a:rPr>
              <a:t>We then use </a:t>
            </a:r>
            <a:r>
              <a:rPr lang="en-US" dirty="0" err="1" smtClean="0">
                <a:latin typeface="Montserrat"/>
                <a:ea typeface="Montserrat"/>
                <a:cs typeface="Montserrat"/>
                <a:sym typeface="Montserrat"/>
              </a:rPr>
              <a:t>git</a:t>
            </a:r>
            <a:r>
              <a:rPr lang="en-US" dirty="0" smtClean="0">
                <a:latin typeface="Montserrat"/>
                <a:ea typeface="Montserrat"/>
                <a:cs typeface="Montserrat"/>
                <a:sym typeface="Montserrat"/>
              </a:rPr>
              <a:t> add .</a:t>
            </a:r>
          </a:p>
          <a:p>
            <a:pPr marL="285750" lvl="0" indent="-285750" algn="l" rtl="0">
              <a:spcBef>
                <a:spcPts val="0"/>
              </a:spcBef>
              <a:spcAft>
                <a:spcPts val="0"/>
              </a:spcAft>
              <a:buFont typeface="Arial" pitchFamily="34" charset="0"/>
              <a:buChar char="•"/>
            </a:pPr>
            <a:r>
              <a:rPr lang="en-US" dirty="0" smtClean="0">
                <a:latin typeface="Montserrat"/>
                <a:ea typeface="Montserrat"/>
                <a:cs typeface="Montserrat"/>
                <a:sym typeface="Montserrat"/>
              </a:rPr>
              <a:t>Then commit the changes using </a:t>
            </a:r>
            <a:r>
              <a:rPr lang="en-US" dirty="0" err="1" smtClean="0">
                <a:latin typeface="Montserrat"/>
                <a:ea typeface="Montserrat"/>
                <a:cs typeface="Montserrat"/>
                <a:sym typeface="Montserrat"/>
              </a:rPr>
              <a:t>git</a:t>
            </a:r>
            <a:r>
              <a:rPr lang="en-US" dirty="0" smtClean="0">
                <a:latin typeface="Montserrat"/>
                <a:ea typeface="Montserrat"/>
                <a:cs typeface="Montserrat"/>
                <a:sym typeface="Montserrat"/>
              </a:rPr>
              <a:t> commit –m ‘message’</a:t>
            </a:r>
          </a:p>
          <a:p>
            <a:pPr marL="285750" lvl="0" indent="-285750" algn="l" rtl="0">
              <a:spcBef>
                <a:spcPts val="0"/>
              </a:spcBef>
              <a:spcAft>
                <a:spcPts val="0"/>
              </a:spcAft>
              <a:buFont typeface="Arial" pitchFamily="34" charset="0"/>
              <a:buChar char="•"/>
            </a:pPr>
            <a:r>
              <a:rPr lang="en-US" dirty="0" smtClean="0">
                <a:latin typeface="Montserrat"/>
                <a:ea typeface="Montserrat"/>
                <a:cs typeface="Montserrat"/>
                <a:sym typeface="Montserrat"/>
              </a:rPr>
              <a:t>And </a:t>
            </a:r>
            <a:r>
              <a:rPr lang="en-US" dirty="0" err="1" smtClean="0">
                <a:latin typeface="Montserrat"/>
                <a:ea typeface="Montserrat"/>
                <a:cs typeface="Montserrat"/>
                <a:sym typeface="Montserrat"/>
              </a:rPr>
              <a:t>fnally</a:t>
            </a:r>
            <a:r>
              <a:rPr lang="en-US" dirty="0" smtClean="0">
                <a:latin typeface="Montserrat"/>
                <a:ea typeface="Montserrat"/>
                <a:cs typeface="Montserrat"/>
                <a:sym typeface="Montserrat"/>
              </a:rPr>
              <a:t> </a:t>
            </a:r>
            <a:r>
              <a:rPr lang="en-US" dirty="0" err="1" smtClean="0">
                <a:latin typeface="Montserrat"/>
                <a:ea typeface="Montserrat"/>
                <a:cs typeface="Montserrat"/>
                <a:sym typeface="Montserrat"/>
              </a:rPr>
              <a:t>git</a:t>
            </a:r>
            <a:r>
              <a:rPr lang="en-US" dirty="0" smtClean="0">
                <a:latin typeface="Montserrat"/>
                <a:ea typeface="Montserrat"/>
                <a:cs typeface="Montserrat"/>
                <a:sym typeface="Montserrat"/>
              </a:rPr>
              <a:t> push</a:t>
            </a:r>
          </a:p>
          <a:p>
            <a:pPr marL="0" lvl="0" indent="0" algn="l" rtl="0">
              <a:spcBef>
                <a:spcPts val="0"/>
              </a:spcBef>
              <a:spcAft>
                <a:spcPts val="0"/>
              </a:spcAft>
              <a:buNone/>
            </a:pPr>
            <a:endParaRPr lang="en-US" dirty="0">
              <a:latin typeface="Montserrat"/>
              <a:ea typeface="Montserrat"/>
              <a:cs typeface="Montserrat"/>
              <a:sym typeface="Montserrat"/>
            </a:endParaRPr>
          </a:p>
          <a:p>
            <a:pPr marL="0" lvl="0" indent="0" algn="l" rtl="0">
              <a:spcBef>
                <a:spcPts val="0"/>
              </a:spcBef>
              <a:spcAft>
                <a:spcPts val="0"/>
              </a:spcAft>
              <a:buNone/>
            </a:pPr>
            <a:endParaRPr lang="en-US" dirty="0">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C4587"/>
        </a:solidFill>
        <a:effectLst/>
      </p:bgPr>
    </p:bg>
    <p:spTree>
      <p:nvGrpSpPr>
        <p:cNvPr id="1" name="Shape 294"/>
        <p:cNvGrpSpPr/>
        <p:nvPr/>
      </p:nvGrpSpPr>
      <p:grpSpPr>
        <a:xfrm>
          <a:off x="0" y="0"/>
          <a:ext cx="0" cy="0"/>
          <a:chOff x="0" y="0"/>
          <a:chExt cx="0" cy="0"/>
        </a:xfrm>
      </p:grpSpPr>
      <p:sp>
        <p:nvSpPr>
          <p:cNvPr id="295" name="Google Shape;295;p16"/>
          <p:cNvSpPr txBox="1">
            <a:spLocks noGrp="1"/>
          </p:cNvSpPr>
          <p:nvPr>
            <p:ph type="ctrTitle"/>
          </p:nvPr>
        </p:nvSpPr>
        <p:spPr>
          <a:xfrm>
            <a:off x="824000" y="352700"/>
            <a:ext cx="3747900" cy="10434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smtClean="0"/>
              <a:t>Cloning</a:t>
            </a:r>
            <a:endParaRPr dirty="0"/>
          </a:p>
        </p:txBody>
      </p:sp>
      <p:sp>
        <p:nvSpPr>
          <p:cNvPr id="296" name="Google Shape;296;p16"/>
          <p:cNvSpPr txBox="1">
            <a:spLocks noGrp="1"/>
          </p:cNvSpPr>
          <p:nvPr>
            <p:ph type="subTitle" idx="1"/>
          </p:nvPr>
        </p:nvSpPr>
        <p:spPr>
          <a:xfrm>
            <a:off x="824000" y="1637375"/>
            <a:ext cx="7508400" cy="2580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dirty="0" smtClean="0"/>
              <a:t>If the folder is created on the </a:t>
            </a:r>
            <a:r>
              <a:rPr lang="en-US" dirty="0" err="1" smtClean="0"/>
              <a:t>github</a:t>
            </a:r>
            <a:r>
              <a:rPr lang="en-US" dirty="0" smtClean="0"/>
              <a:t> server, we can clone it, update or delete it and commit our changes.</a:t>
            </a:r>
          </a:p>
          <a:p>
            <a:pPr marL="0" lvl="0" indent="0" algn="l" rtl="0">
              <a:spcBef>
                <a:spcPts val="0"/>
              </a:spcBef>
              <a:spcAft>
                <a:spcPts val="0"/>
              </a:spcAft>
              <a:buNone/>
            </a:pPr>
            <a:r>
              <a:rPr lang="en-US" dirty="0" smtClean="0"/>
              <a:t>We use</a:t>
            </a:r>
          </a:p>
          <a:p>
            <a:pPr marL="285750" lvl="0" indent="-285750">
              <a:buFont typeface="Arial" pitchFamily="34" charset="0"/>
              <a:buChar char="•"/>
            </a:pPr>
            <a:r>
              <a:rPr lang="en-US" dirty="0" err="1"/>
              <a:t>git</a:t>
            </a:r>
            <a:r>
              <a:rPr lang="en-US" dirty="0"/>
              <a:t> clone ssh://git@github.com/[username]/[repository-name].</a:t>
            </a:r>
            <a:r>
              <a:rPr lang="en-US" dirty="0" smtClean="0"/>
              <a:t>git</a:t>
            </a:r>
          </a:p>
          <a:p>
            <a:pPr marL="285750" lvl="0" indent="-285750">
              <a:buFont typeface="Arial" pitchFamily="34" charset="0"/>
              <a:buChar char="•"/>
            </a:pPr>
            <a:r>
              <a:rPr lang="en-US" dirty="0" smtClean="0"/>
              <a:t>We make changes, add ., commit and push</a:t>
            </a:r>
            <a:endParaRPr dirty="0"/>
          </a:p>
          <a:p>
            <a:pPr marL="0" lvl="0" indent="0" algn="l" rtl="0">
              <a:spcBef>
                <a:spcPts val="0"/>
              </a:spcBef>
              <a:spcAft>
                <a:spcPts val="0"/>
              </a:spcAft>
              <a:buNone/>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C4587"/>
        </a:solidFill>
        <a:effectLst/>
      </p:bgPr>
    </p:bg>
    <p:spTree>
      <p:nvGrpSpPr>
        <p:cNvPr id="1" name="Shape 301"/>
        <p:cNvGrpSpPr/>
        <p:nvPr/>
      </p:nvGrpSpPr>
      <p:grpSpPr>
        <a:xfrm>
          <a:off x="0" y="0"/>
          <a:ext cx="0" cy="0"/>
          <a:chOff x="0" y="0"/>
          <a:chExt cx="0" cy="0"/>
        </a:xfrm>
      </p:grpSpPr>
      <p:sp>
        <p:nvSpPr>
          <p:cNvPr id="302" name="Google Shape;302;p17"/>
          <p:cNvSpPr txBox="1">
            <a:spLocks noGrp="1"/>
          </p:cNvSpPr>
          <p:nvPr>
            <p:ph type="ctrTitle"/>
          </p:nvPr>
        </p:nvSpPr>
        <p:spPr>
          <a:xfrm>
            <a:off x="824000" y="-12"/>
            <a:ext cx="5063616" cy="18729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smtClean="0"/>
              <a:t>Dealing with branches</a:t>
            </a:r>
            <a:endParaRPr dirty="0"/>
          </a:p>
        </p:txBody>
      </p:sp>
      <p:sp>
        <p:nvSpPr>
          <p:cNvPr id="303" name="Google Shape;303;p17"/>
          <p:cNvSpPr txBox="1">
            <a:spLocks noGrp="1"/>
          </p:cNvSpPr>
          <p:nvPr>
            <p:ph type="subTitle" idx="1"/>
          </p:nvPr>
        </p:nvSpPr>
        <p:spPr>
          <a:xfrm>
            <a:off x="824000" y="1513650"/>
            <a:ext cx="7728900" cy="2778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dirty="0" smtClean="0"/>
              <a:t>When working in a team simultaneously, a branch comes in handy, allowing engineers to work on different parts of a software individually and then later merging it in to one branch and singl</a:t>
            </a:r>
            <a:r>
              <a:rPr lang="en-US" dirty="0" smtClean="0"/>
              <a:t>e working software.</a:t>
            </a:r>
          </a:p>
          <a:p>
            <a:pPr marL="285750" lvl="0" indent="-285750">
              <a:buFont typeface="Arial" pitchFamily="34" charset="0"/>
              <a:buChar char="•"/>
            </a:pPr>
            <a:r>
              <a:rPr lang="en-US" dirty="0" err="1"/>
              <a:t>git</a:t>
            </a:r>
            <a:r>
              <a:rPr lang="en-US" dirty="0"/>
              <a:t> </a:t>
            </a:r>
            <a:r>
              <a:rPr lang="en-US" dirty="0" smtClean="0"/>
              <a:t>branch</a:t>
            </a:r>
          </a:p>
          <a:p>
            <a:pPr marL="285750" lvl="0" indent="-285750">
              <a:buFont typeface="Arial" pitchFamily="34" charset="0"/>
              <a:buChar char="•"/>
            </a:pPr>
            <a:r>
              <a:rPr lang="en-US" dirty="0" err="1"/>
              <a:t>git</a:t>
            </a:r>
            <a:r>
              <a:rPr lang="en-US" dirty="0"/>
              <a:t> branch </a:t>
            </a:r>
            <a:r>
              <a:rPr lang="en-US" dirty="0" smtClean="0"/>
              <a:t>–a</a:t>
            </a:r>
          </a:p>
          <a:p>
            <a:pPr marL="285750" lvl="0" indent="-285750">
              <a:buFont typeface="Arial" pitchFamily="34" charset="0"/>
              <a:buChar char="•"/>
            </a:pPr>
            <a:r>
              <a:rPr lang="en-US" dirty="0" err="1"/>
              <a:t>git</a:t>
            </a:r>
            <a:r>
              <a:rPr lang="en-US" dirty="0"/>
              <a:t> branch [branch name</a:t>
            </a:r>
            <a:r>
              <a:rPr lang="en-US" dirty="0" smtClean="0"/>
              <a:t>]</a:t>
            </a:r>
          </a:p>
          <a:p>
            <a:pPr marL="285750" lvl="0" indent="-285750">
              <a:buFont typeface="Arial" pitchFamily="34" charset="0"/>
              <a:buChar char="•"/>
            </a:pPr>
            <a:r>
              <a:rPr lang="de-DE" dirty="0"/>
              <a:t>git branch -d [branch name</a:t>
            </a:r>
            <a:r>
              <a:rPr lang="de-DE" dirty="0" smtClean="0"/>
              <a:t>]</a:t>
            </a:r>
          </a:p>
          <a:p>
            <a:pPr marL="285750" lvl="0" indent="-285750">
              <a:buFont typeface="Arial" pitchFamily="34" charset="0"/>
              <a:buChar char="•"/>
            </a:pPr>
            <a:r>
              <a:rPr lang="en-US" dirty="0" err="1"/>
              <a:t>git</a:t>
            </a:r>
            <a:r>
              <a:rPr lang="en-US" dirty="0"/>
              <a:t> push origin --delete [branch name</a:t>
            </a:r>
            <a:r>
              <a:rPr lang="en-US" dirty="0" smtClean="0"/>
              <a:t>]</a:t>
            </a:r>
          </a:p>
          <a:p>
            <a:pPr marL="285750" lvl="0" indent="-285750">
              <a:buFont typeface="Arial" pitchFamily="34" charset="0"/>
              <a:buChar char="•"/>
            </a:pPr>
            <a:r>
              <a:rPr lang="en-US" dirty="0" err="1"/>
              <a:t>git</a:t>
            </a:r>
            <a:r>
              <a:rPr lang="en-US" dirty="0"/>
              <a:t> checkout -b [branch name]</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73763"/>
        </a:solidFill>
        <a:effectLst/>
      </p:bgPr>
    </p:bg>
    <p:spTree>
      <p:nvGrpSpPr>
        <p:cNvPr id="1" name="Shape 307"/>
        <p:cNvGrpSpPr/>
        <p:nvPr/>
      </p:nvGrpSpPr>
      <p:grpSpPr>
        <a:xfrm>
          <a:off x="0" y="0"/>
          <a:ext cx="0" cy="0"/>
          <a:chOff x="0" y="0"/>
          <a:chExt cx="0" cy="0"/>
        </a:xfrm>
      </p:grpSpPr>
      <p:sp>
        <p:nvSpPr>
          <p:cNvPr id="308" name="Google Shape;308;p18"/>
          <p:cNvSpPr txBox="1">
            <a:spLocks noGrp="1"/>
          </p:cNvSpPr>
          <p:nvPr>
            <p:ph type="ctrTitle"/>
          </p:nvPr>
        </p:nvSpPr>
        <p:spPr>
          <a:xfrm>
            <a:off x="823999" y="370879"/>
            <a:ext cx="5511487" cy="16131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smtClean="0"/>
              <a:t>Fetch,pull, revert and merge</a:t>
            </a:r>
            <a:endParaRPr dirty="0"/>
          </a:p>
        </p:txBody>
      </p:sp>
      <p:sp>
        <p:nvSpPr>
          <p:cNvPr id="309" name="Google Shape;309;p18"/>
          <p:cNvSpPr txBox="1">
            <a:spLocks noGrp="1"/>
          </p:cNvSpPr>
          <p:nvPr>
            <p:ph type="subTitle" idx="1"/>
          </p:nvPr>
        </p:nvSpPr>
        <p:spPr>
          <a:xfrm>
            <a:off x="823999" y="1748725"/>
            <a:ext cx="7274971" cy="3168508"/>
          </a:xfrm>
          <a:prstGeom prst="rect">
            <a:avLst/>
          </a:prstGeom>
        </p:spPr>
        <p:txBody>
          <a:bodyPr spcFirstLastPara="1" wrap="square" lIns="91425" tIns="91425" rIns="91425" bIns="91425" anchor="t" anchorCtr="0">
            <a:noAutofit/>
          </a:bodyPr>
          <a:lstStyle/>
          <a:p>
            <a:pPr fontAlgn="ctr"/>
            <a:r>
              <a:rPr lang="en-US" sz="1300" dirty="0" err="1">
                <a:latin typeface="Calibri" pitchFamily="34" charset="0"/>
                <a:cs typeface="Calibri" pitchFamily="34" charset="0"/>
              </a:rPr>
              <a:t>git</a:t>
            </a:r>
            <a:r>
              <a:rPr lang="en-US" sz="1300" dirty="0">
                <a:latin typeface="Calibri" pitchFamily="34" charset="0"/>
                <a:cs typeface="Calibri" pitchFamily="34" charset="0"/>
              </a:rPr>
              <a:t> fetch</a:t>
            </a:r>
          </a:p>
          <a:p>
            <a:r>
              <a:rPr lang="en-US" sz="1300" dirty="0">
                <a:latin typeface="Calibri" pitchFamily="34" charset="0"/>
                <a:cs typeface="Calibri" pitchFamily="34" charset="0"/>
              </a:rPr>
              <a:t>The </a:t>
            </a:r>
            <a:r>
              <a:rPr lang="en-US" sz="1300" dirty="0" err="1">
                <a:latin typeface="Calibri" pitchFamily="34" charset="0"/>
                <a:cs typeface="Calibri" pitchFamily="34" charset="0"/>
              </a:rPr>
              <a:t>git</a:t>
            </a:r>
            <a:r>
              <a:rPr lang="en-US" sz="1300" dirty="0">
                <a:latin typeface="Calibri" pitchFamily="34" charset="0"/>
                <a:cs typeface="Calibri" pitchFamily="34" charset="0"/>
              </a:rPr>
              <a:t> fetch command retrieves changes from a remote repository but does not integrate them into the local working copy. It downloads new commits, branches, and tags from the remote, allowing for inspection of changes before merging</a:t>
            </a:r>
            <a:r>
              <a:rPr lang="en-US" sz="1300" dirty="0" smtClean="0">
                <a:latin typeface="Calibri" pitchFamily="34" charset="0"/>
                <a:cs typeface="Calibri" pitchFamily="34" charset="0"/>
              </a:rPr>
              <a:t>.</a:t>
            </a:r>
          </a:p>
          <a:p>
            <a:pPr fontAlgn="ctr"/>
            <a:r>
              <a:rPr lang="en-US" sz="1300" dirty="0" err="1">
                <a:latin typeface="Calibri" pitchFamily="34" charset="0"/>
                <a:cs typeface="Calibri" pitchFamily="34" charset="0"/>
              </a:rPr>
              <a:t>git</a:t>
            </a:r>
            <a:r>
              <a:rPr lang="en-US" sz="1300" dirty="0">
                <a:latin typeface="Calibri" pitchFamily="34" charset="0"/>
                <a:cs typeface="Calibri" pitchFamily="34" charset="0"/>
              </a:rPr>
              <a:t> pull</a:t>
            </a:r>
          </a:p>
          <a:p>
            <a:r>
              <a:rPr lang="en-US" sz="1300" dirty="0">
                <a:latin typeface="Calibri" pitchFamily="34" charset="0"/>
                <a:cs typeface="Calibri" pitchFamily="34" charset="0"/>
              </a:rPr>
              <a:t>The </a:t>
            </a:r>
            <a:r>
              <a:rPr lang="en-US" sz="1300" dirty="0" err="1">
                <a:latin typeface="Calibri" pitchFamily="34" charset="0"/>
                <a:cs typeface="Calibri" pitchFamily="34" charset="0"/>
              </a:rPr>
              <a:t>git</a:t>
            </a:r>
            <a:r>
              <a:rPr lang="en-US" sz="1300" dirty="0">
                <a:latin typeface="Calibri" pitchFamily="34" charset="0"/>
                <a:cs typeface="Calibri" pitchFamily="34" charset="0"/>
              </a:rPr>
              <a:t> pull command is a convenience command that combines </a:t>
            </a:r>
            <a:r>
              <a:rPr lang="en-US" sz="1300" dirty="0" err="1">
                <a:latin typeface="Calibri" pitchFamily="34" charset="0"/>
                <a:cs typeface="Calibri" pitchFamily="34" charset="0"/>
              </a:rPr>
              <a:t>git</a:t>
            </a:r>
            <a:r>
              <a:rPr lang="en-US" sz="1300" dirty="0">
                <a:latin typeface="Calibri" pitchFamily="34" charset="0"/>
                <a:cs typeface="Calibri" pitchFamily="34" charset="0"/>
              </a:rPr>
              <a:t> fetch and </a:t>
            </a:r>
            <a:r>
              <a:rPr lang="en-US" sz="1300" dirty="0" err="1">
                <a:latin typeface="Calibri" pitchFamily="34" charset="0"/>
                <a:cs typeface="Calibri" pitchFamily="34" charset="0"/>
              </a:rPr>
              <a:t>git</a:t>
            </a:r>
            <a:r>
              <a:rPr lang="en-US" sz="1300" dirty="0">
                <a:latin typeface="Calibri" pitchFamily="34" charset="0"/>
                <a:cs typeface="Calibri" pitchFamily="34" charset="0"/>
              </a:rPr>
              <a:t> merge. It retrieves changes from a remote repository and automatically integrates them into the current local branch.</a:t>
            </a:r>
          </a:p>
          <a:p>
            <a:pPr fontAlgn="ctr"/>
            <a:r>
              <a:rPr lang="en-US" sz="1300" dirty="0" err="1">
                <a:latin typeface="Calibri" pitchFamily="34" charset="0"/>
                <a:cs typeface="Calibri" pitchFamily="34" charset="0"/>
              </a:rPr>
              <a:t>git</a:t>
            </a:r>
            <a:r>
              <a:rPr lang="en-US" sz="1300" dirty="0">
                <a:latin typeface="Calibri" pitchFamily="34" charset="0"/>
                <a:cs typeface="Calibri" pitchFamily="34" charset="0"/>
              </a:rPr>
              <a:t> revert</a:t>
            </a:r>
          </a:p>
          <a:p>
            <a:r>
              <a:rPr lang="en-US" sz="1300" dirty="0">
                <a:latin typeface="Calibri" pitchFamily="34" charset="0"/>
                <a:cs typeface="Calibri" pitchFamily="34" charset="0"/>
              </a:rPr>
              <a:t>The </a:t>
            </a:r>
            <a:r>
              <a:rPr lang="en-US" sz="1300" dirty="0" err="1">
                <a:latin typeface="Calibri" pitchFamily="34" charset="0"/>
                <a:cs typeface="Calibri" pitchFamily="34" charset="0"/>
              </a:rPr>
              <a:t>git</a:t>
            </a:r>
            <a:r>
              <a:rPr lang="en-US" sz="1300" dirty="0">
                <a:latin typeface="Calibri" pitchFamily="34" charset="0"/>
                <a:cs typeface="Calibri" pitchFamily="34" charset="0"/>
              </a:rPr>
              <a:t> revert command creates a new commit that undoes the changes introduced by a previous commit.</a:t>
            </a:r>
          </a:p>
          <a:p>
            <a:pPr fontAlgn="ctr"/>
            <a:r>
              <a:rPr lang="en-US" sz="1300" dirty="0" err="1">
                <a:latin typeface="Calibri" pitchFamily="34" charset="0"/>
                <a:cs typeface="Calibri" pitchFamily="34" charset="0"/>
              </a:rPr>
              <a:t>git</a:t>
            </a:r>
            <a:r>
              <a:rPr lang="en-US" sz="1300" dirty="0">
                <a:latin typeface="Calibri" pitchFamily="34" charset="0"/>
                <a:cs typeface="Calibri" pitchFamily="34" charset="0"/>
              </a:rPr>
              <a:t> merge</a:t>
            </a:r>
          </a:p>
          <a:p>
            <a:pPr fontAlgn="ctr"/>
            <a:r>
              <a:rPr lang="en-US" sz="1300" dirty="0">
                <a:latin typeface="Calibri" pitchFamily="34" charset="0"/>
                <a:cs typeface="Calibri" pitchFamily="34" charset="0"/>
              </a:rPr>
              <a:t>The </a:t>
            </a:r>
            <a:r>
              <a:rPr lang="en-US" sz="1300" dirty="0" err="1">
                <a:latin typeface="Calibri" pitchFamily="34" charset="0"/>
                <a:cs typeface="Calibri" pitchFamily="34" charset="0"/>
              </a:rPr>
              <a:t>git</a:t>
            </a:r>
            <a:r>
              <a:rPr lang="en-US" sz="1300" dirty="0">
                <a:latin typeface="Calibri" pitchFamily="34" charset="0"/>
                <a:cs typeface="Calibri" pitchFamily="34" charset="0"/>
              </a:rPr>
              <a:t> merge command integrates changes from one branch into another. It combines the commit history of two or more branches into a single new commit, preserving the history of all contributing branches.</a:t>
            </a:r>
          </a:p>
          <a:p>
            <a:r>
              <a:rPr lang="en-US" sz="1300" dirty="0">
                <a:latin typeface="Calibri" pitchFamily="34" charset="0"/>
                <a:cs typeface="Calibri" pitchFamily="34" charset="0"/>
              </a:rPr>
              <a:t>Code</a:t>
            </a:r>
          </a:p>
          <a:p>
            <a:r>
              <a:rPr lang="en-US" sz="1300" dirty="0">
                <a:latin typeface="Calibri" pitchFamily="34" charset="0"/>
                <a:cs typeface="Calibri" pitchFamily="34" charset="0"/>
              </a:rPr>
              <a:t/>
            </a:r>
            <a:br>
              <a:rPr lang="en-US" sz="1300" dirty="0">
                <a:latin typeface="Calibri" pitchFamily="34" charset="0"/>
                <a:cs typeface="Calibri" pitchFamily="34" charset="0"/>
              </a:rPr>
            </a:br>
            <a:endParaRPr lang="en-US" sz="1300" dirty="0">
              <a:latin typeface="Calibri" pitchFamily="34" charset="0"/>
              <a:cs typeface="Calibri"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C4587"/>
        </a:solidFill>
        <a:effectLst/>
      </p:bgPr>
    </p:bg>
    <p:spTree>
      <p:nvGrpSpPr>
        <p:cNvPr id="1" name="Shape 313"/>
        <p:cNvGrpSpPr/>
        <p:nvPr/>
      </p:nvGrpSpPr>
      <p:grpSpPr>
        <a:xfrm>
          <a:off x="0" y="0"/>
          <a:ext cx="0" cy="0"/>
          <a:chOff x="0" y="0"/>
          <a:chExt cx="0" cy="0"/>
        </a:xfrm>
      </p:grpSpPr>
      <p:sp>
        <p:nvSpPr>
          <p:cNvPr id="314" name="Google Shape;314;p19"/>
          <p:cNvSpPr txBox="1">
            <a:spLocks noGrp="1"/>
          </p:cNvSpPr>
          <p:nvPr>
            <p:ph type="ctrTitle"/>
          </p:nvPr>
        </p:nvSpPr>
        <p:spPr>
          <a:xfrm>
            <a:off x="803945" y="708584"/>
            <a:ext cx="2256496" cy="10662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smtClean="0"/>
              <a:t>Git push</a:t>
            </a:r>
            <a:endParaRPr dirty="0"/>
          </a:p>
        </p:txBody>
      </p:sp>
      <p:sp>
        <p:nvSpPr>
          <p:cNvPr id="3" name="Google Shape;309;p18"/>
          <p:cNvSpPr txBox="1">
            <a:spLocks noGrp="1"/>
          </p:cNvSpPr>
          <p:nvPr>
            <p:ph type="subTitle" idx="1"/>
          </p:nvPr>
        </p:nvSpPr>
        <p:spPr>
          <a:xfrm>
            <a:off x="823999" y="1748725"/>
            <a:ext cx="7274971" cy="2543100"/>
          </a:xfrm>
          <a:prstGeom prst="rect">
            <a:avLst/>
          </a:prstGeom>
        </p:spPr>
        <p:txBody>
          <a:bodyPr spcFirstLastPara="1" wrap="square" lIns="91425" tIns="91425" rIns="91425" bIns="91425" anchor="t" anchorCtr="0">
            <a:normAutofit/>
          </a:bodyPr>
          <a:lstStyle/>
          <a:p>
            <a:pPr marL="127000" lvl="0" indent="0" algn="l" rtl="0">
              <a:spcBef>
                <a:spcPts val="0"/>
              </a:spcBef>
              <a:spcAft>
                <a:spcPts val="0"/>
              </a:spcAft>
              <a:buSzPts val="1600"/>
            </a:pPr>
            <a:r>
              <a:rPr lang="en-US" dirty="0" err="1" smtClean="0"/>
              <a:t>Git</a:t>
            </a:r>
            <a:r>
              <a:rPr lang="en-US" dirty="0" smtClean="0"/>
              <a:t> push allows users to push the latest changes and stay up </a:t>
            </a:r>
            <a:r>
              <a:rPr lang="en-US" smtClean="0"/>
              <a:t>to date.</a:t>
            </a:r>
            <a:endParaRPr dirty="0"/>
          </a:p>
        </p:txBody>
      </p:sp>
    </p:spTree>
  </p:cSld>
  <p:clrMapOvr>
    <a:masterClrMapping/>
  </p:clrMapOvr>
</p:sld>
</file>

<file path=ppt/theme/theme1.xml><?xml version="1.0" encoding="utf-8"?>
<a:theme xmlns:a="http://schemas.openxmlformats.org/drawingml/2006/main"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TotalTime>
  <Words>253</Words>
  <Application>Microsoft Office PowerPoint</Application>
  <PresentationFormat>On-screen Show (16:9)</PresentationFormat>
  <Paragraphs>44</Paragraphs>
  <Slides>7</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Maven Pro</vt:lpstr>
      <vt:lpstr>Montserrat</vt:lpstr>
      <vt:lpstr>Calibri</vt:lpstr>
      <vt:lpstr>Nunito</vt:lpstr>
      <vt:lpstr>Momentum</vt:lpstr>
      <vt:lpstr>Advanced Frontend Development Version Control Task 2</vt:lpstr>
      <vt:lpstr>Version Control</vt:lpstr>
      <vt:lpstr>Creating Repository</vt:lpstr>
      <vt:lpstr>Cloning</vt:lpstr>
      <vt:lpstr>Dealing with branches</vt:lpstr>
      <vt:lpstr>Fetch,pull, revert and merge</vt:lpstr>
      <vt:lpstr>Git push</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Frontend Development ES6 Features Task 1</dc:title>
  <cp:lastModifiedBy>Abu-sufyan</cp:lastModifiedBy>
  <cp:revision>7</cp:revision>
  <dcterms:modified xsi:type="dcterms:W3CDTF">2025-09-22T03:43:21Z</dcterms:modified>
</cp:coreProperties>
</file>
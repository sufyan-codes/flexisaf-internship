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7" r:id="rId3"/>
    <p:sldId id="258" r:id="rId4"/>
    <p:sldId id="264" r:id="rId5"/>
    <p:sldId id="259" r:id="rId6"/>
    <p:sldId id="260" r:id="rId7"/>
    <p:sldId id="263" r:id="rId8"/>
  </p:sldIdLst>
  <p:sldSz cx="9144000" cy="5143500" type="screen16x9"/>
  <p:notesSz cx="6858000" cy="9144000"/>
  <p:embeddedFontLst>
    <p:embeddedFont>
      <p:font typeface="Maven Pro" charset="0"/>
      <p:regular r:id="rId10"/>
      <p:bold r:id="rId11"/>
    </p:embeddedFont>
    <p:embeddedFont>
      <p:font typeface="Montserrat" charset="0"/>
      <p:regular r:id="rId12"/>
      <p:bold r:id="rId13"/>
      <p:italic r:id="rId14"/>
      <p:boldItalic r:id="rId15"/>
    </p:embeddedFont>
    <p:embeddedFont>
      <p:font typeface="Nunito"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2" d="100"/>
          <a:sy n="102" d="100"/>
        </p:scale>
        <p:origin x="-456" y="2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73878873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5e08b19311e0ba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15e08b19311e0ba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5e08b19311e0ba5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15e08b19311e0ba5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5e08b19311e0ba5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15e08b19311e0ba5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5e08b19311e0ba5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5e08b19311e0ba5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15e08b19311e0ba5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15e08b19311e0ba5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15e08b19311e0ba5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15e08b19311e0ba5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lnSpcReduction="10000"/>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265568" y="1202350"/>
            <a:ext cx="8731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b="0" dirty="0">
                <a:latin typeface="Montserrat"/>
                <a:ea typeface="Montserrat"/>
                <a:cs typeface="Montserrat"/>
                <a:sym typeface="Montserrat"/>
              </a:rPr>
              <a:t>Advanced Frontend Development</a:t>
            </a:r>
            <a:endParaRPr b="0" dirty="0">
              <a:latin typeface="Montserrat"/>
              <a:ea typeface="Montserrat"/>
              <a:cs typeface="Montserrat"/>
              <a:sym typeface="Montserrat"/>
            </a:endParaRPr>
          </a:p>
          <a:p>
            <a:pPr marL="0" lvl="0" indent="0" algn="l" rtl="0">
              <a:spcBef>
                <a:spcPts val="0"/>
              </a:spcBef>
              <a:spcAft>
                <a:spcPts val="0"/>
              </a:spcAft>
              <a:buNone/>
            </a:pPr>
            <a:r>
              <a:rPr lang="en-US" b="0" dirty="0" smtClean="0">
                <a:latin typeface="Montserrat"/>
                <a:ea typeface="Montserrat"/>
                <a:cs typeface="Montserrat"/>
                <a:sym typeface="Montserrat"/>
              </a:rPr>
              <a:t>React Hooks</a:t>
            </a:r>
            <a:endParaRPr b="0" dirty="0">
              <a:latin typeface="Montserrat"/>
              <a:ea typeface="Montserrat"/>
              <a:cs typeface="Montserrat"/>
              <a:sym typeface="Montserrat"/>
            </a:endParaRPr>
          </a:p>
          <a:p>
            <a:pPr marL="0" lvl="0" indent="0" algn="l" rtl="0">
              <a:spcBef>
                <a:spcPts val="0"/>
              </a:spcBef>
              <a:spcAft>
                <a:spcPts val="0"/>
              </a:spcAft>
              <a:buNone/>
            </a:pPr>
            <a:r>
              <a:rPr lang="en" b="0" dirty="0">
                <a:latin typeface="Montserrat"/>
                <a:ea typeface="Montserrat"/>
                <a:cs typeface="Montserrat"/>
                <a:sym typeface="Montserrat"/>
              </a:rPr>
              <a:t>Task </a:t>
            </a:r>
            <a:r>
              <a:rPr lang="en" b="0" dirty="0">
                <a:latin typeface="Montserrat"/>
                <a:ea typeface="Montserrat"/>
                <a:cs typeface="Montserrat"/>
                <a:sym typeface="Montserrat"/>
              </a:rPr>
              <a:t>5</a:t>
            </a:r>
            <a:endParaRPr b="0" dirty="0">
              <a:latin typeface="Montserrat"/>
              <a:ea typeface="Montserrat"/>
              <a:cs typeface="Montserrat"/>
              <a:sym typeface="Montserrat"/>
            </a:endParaRPr>
          </a:p>
        </p:txBody>
      </p:sp>
      <p:sp>
        <p:nvSpPr>
          <p:cNvPr id="278" name="Google Shape;278;p13"/>
          <p:cNvSpPr txBox="1">
            <a:spLocks noGrp="1"/>
          </p:cNvSpPr>
          <p:nvPr>
            <p:ph type="subTitle" idx="1"/>
          </p:nvPr>
        </p:nvSpPr>
        <p:spPr>
          <a:xfrm>
            <a:off x="427200" y="3075250"/>
            <a:ext cx="4255500" cy="1416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Montserrat"/>
                <a:ea typeface="Montserrat"/>
                <a:cs typeface="Montserrat"/>
                <a:sym typeface="Montserrat"/>
              </a:rPr>
              <a:t>Compiled by Yusuf Abu-safyan</a:t>
            </a:r>
            <a:endParaRPr>
              <a:latin typeface="Montserrat"/>
              <a:ea typeface="Montserrat"/>
              <a:cs typeface="Montserrat"/>
              <a:sym typeface="Montserrat"/>
            </a:endParaRPr>
          </a:p>
          <a:p>
            <a:pPr marL="0" lvl="0" indent="0" algn="l" rtl="0">
              <a:spcBef>
                <a:spcPts val="0"/>
              </a:spcBef>
              <a:spcAft>
                <a:spcPts val="0"/>
              </a:spcAft>
              <a:buNone/>
            </a:pPr>
            <a:endParaRPr>
              <a:latin typeface="Montserrat"/>
              <a:ea typeface="Montserrat"/>
              <a:cs typeface="Montserrat"/>
              <a:sym typeface="Montserrat"/>
            </a:endParaRPr>
          </a:p>
          <a:p>
            <a:pPr marL="0" lvl="0" indent="0" algn="l" rtl="0">
              <a:spcBef>
                <a:spcPts val="0"/>
              </a:spcBef>
              <a:spcAft>
                <a:spcPts val="0"/>
              </a:spcAft>
              <a:buNone/>
            </a:pPr>
            <a:r>
              <a:rPr lang="en">
                <a:latin typeface="Montserrat"/>
                <a:ea typeface="Montserrat"/>
                <a:cs typeface="Montserrat"/>
                <a:sym typeface="Montserrat"/>
              </a:rPr>
              <a:t>https://github.com/Sufyan-codes/FlexiSaf-Internship.git</a:t>
            </a:r>
            <a:endParaRPr>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82"/>
        <p:cNvGrpSpPr/>
        <p:nvPr/>
      </p:nvGrpSpPr>
      <p:grpSpPr>
        <a:xfrm>
          <a:off x="0" y="0"/>
          <a:ext cx="0" cy="0"/>
          <a:chOff x="0" y="0"/>
          <a:chExt cx="0" cy="0"/>
        </a:xfrm>
      </p:grpSpPr>
      <p:sp>
        <p:nvSpPr>
          <p:cNvPr id="283" name="Google Shape;283;p14"/>
          <p:cNvSpPr txBox="1">
            <a:spLocks noGrp="1"/>
          </p:cNvSpPr>
          <p:nvPr>
            <p:ph type="ctrTitle"/>
          </p:nvPr>
        </p:nvSpPr>
        <p:spPr>
          <a:xfrm>
            <a:off x="471299" y="323300"/>
            <a:ext cx="4688530" cy="808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What is </a:t>
            </a:r>
            <a:r>
              <a:rPr lang="en" dirty="0" smtClean="0"/>
              <a:t>are Hooks?</a:t>
            </a:r>
            <a:endParaRPr dirty="0"/>
          </a:p>
        </p:txBody>
      </p:sp>
      <p:sp>
        <p:nvSpPr>
          <p:cNvPr id="284" name="Google Shape;284;p14"/>
          <p:cNvSpPr txBox="1"/>
          <p:nvPr/>
        </p:nvSpPr>
        <p:spPr>
          <a:xfrm>
            <a:off x="558450" y="1131500"/>
            <a:ext cx="8009100" cy="3468000"/>
          </a:xfrm>
          <a:prstGeom prst="rect">
            <a:avLst/>
          </a:prstGeom>
          <a:noFill/>
          <a:ln>
            <a:noFill/>
          </a:ln>
        </p:spPr>
        <p:txBody>
          <a:bodyPr spcFirstLastPara="1" wrap="square" lIns="91425" tIns="91425" rIns="91425" bIns="91425" anchor="t" anchorCtr="0">
            <a:noAutofit/>
          </a:bodyPr>
          <a:lstStyle/>
          <a:p>
            <a:pPr lvl="0"/>
            <a:r>
              <a:rPr lang="en-US" sz="1800" dirty="0">
                <a:solidFill>
                  <a:schemeClr val="bg1"/>
                </a:solidFill>
              </a:rPr>
              <a:t>React Hooks are functions introduced in React 16.8 that allow developers to use state and other React features within functional components, eliminating the need to write class components for managing state or lifecycle methods. They provide a way to "hook into" </a:t>
            </a:r>
            <a:r>
              <a:rPr lang="en-US" sz="1800" dirty="0" err="1">
                <a:solidFill>
                  <a:schemeClr val="bg1"/>
                </a:solidFill>
              </a:rPr>
              <a:t>React's</a:t>
            </a:r>
            <a:r>
              <a:rPr lang="en-US" sz="1800" dirty="0">
                <a:solidFill>
                  <a:schemeClr val="bg1"/>
                </a:solidFill>
              </a:rPr>
              <a:t> features from functional components</a:t>
            </a:r>
            <a:r>
              <a:rPr lang="en-US" sz="1800" dirty="0" smtClean="0">
                <a:solidFill>
                  <a:schemeClr val="bg1"/>
                </a:solidFill>
              </a:rPr>
              <a:t>.</a:t>
            </a:r>
          </a:p>
          <a:p>
            <a:pPr lvl="0"/>
            <a:endParaRPr lang="en-US" sz="1800" dirty="0">
              <a:solidFill>
                <a:schemeClr val="bg1"/>
              </a:solidFill>
              <a:latin typeface="Montserrat"/>
              <a:ea typeface="Montserrat"/>
              <a:cs typeface="Montserrat"/>
              <a:sym typeface="Montserrat"/>
            </a:endParaRPr>
          </a:p>
          <a:p>
            <a:pPr lvl="0"/>
            <a:r>
              <a:rPr lang="en-US" sz="1800" b="1" dirty="0">
                <a:solidFill>
                  <a:schemeClr val="bg1"/>
                </a:solidFill>
              </a:rPr>
              <a:t>React Hooks</a:t>
            </a:r>
            <a:r>
              <a:rPr lang="en-US" sz="1800" dirty="0">
                <a:solidFill>
                  <a:schemeClr val="bg1"/>
                </a:solidFill>
              </a:rPr>
              <a:t> let you use state, lifecycle methods, and other React features </a:t>
            </a:r>
            <a:r>
              <a:rPr lang="en-US" sz="1800" i="1" dirty="0">
                <a:solidFill>
                  <a:schemeClr val="bg1"/>
                </a:solidFill>
              </a:rPr>
              <a:t>without writing a class component</a:t>
            </a:r>
            <a:r>
              <a:rPr lang="en-US" sz="1800" dirty="0">
                <a:solidFill>
                  <a:schemeClr val="bg1"/>
                </a:solidFill>
              </a:rPr>
              <a:t>.</a:t>
            </a:r>
            <a:br>
              <a:rPr lang="en-US" sz="1800" dirty="0">
                <a:solidFill>
                  <a:schemeClr val="bg1"/>
                </a:solidFill>
              </a:rPr>
            </a:br>
            <a:r>
              <a:rPr lang="en-US" sz="1800" dirty="0">
                <a:solidFill>
                  <a:schemeClr val="bg1"/>
                </a:solidFill>
              </a:rPr>
              <a:t>They make functional components powerful and cleaner.</a:t>
            </a:r>
            <a:endParaRPr sz="1800" dirty="0">
              <a:solidFill>
                <a:schemeClr val="bg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88"/>
        <p:cNvGrpSpPr/>
        <p:nvPr/>
      </p:nvGrpSpPr>
      <p:grpSpPr>
        <a:xfrm>
          <a:off x="0" y="0"/>
          <a:ext cx="0" cy="0"/>
          <a:chOff x="0" y="0"/>
          <a:chExt cx="0" cy="0"/>
        </a:xfrm>
      </p:grpSpPr>
      <p:sp>
        <p:nvSpPr>
          <p:cNvPr id="289" name="Google Shape;289;p15"/>
          <p:cNvSpPr txBox="1">
            <a:spLocks noGrp="1"/>
          </p:cNvSpPr>
          <p:nvPr>
            <p:ph type="ctrTitle"/>
          </p:nvPr>
        </p:nvSpPr>
        <p:spPr>
          <a:xfrm>
            <a:off x="618727" y="444623"/>
            <a:ext cx="5586130" cy="695400"/>
          </a:xfrm>
          <a:prstGeom prst="rect">
            <a:avLst/>
          </a:prstGeom>
        </p:spPr>
        <p:txBody>
          <a:bodyPr spcFirstLastPara="1" wrap="square" lIns="91425" tIns="91425" rIns="91425" bIns="91425" anchor="ctr" anchorCtr="0">
            <a:normAutofit fontScale="90000"/>
          </a:bodyPr>
          <a:lstStyle/>
          <a:p>
            <a:pPr lvl="0"/>
            <a:r>
              <a:rPr lang="en-US" dirty="0" err="1"/>
              <a:t>useState</a:t>
            </a:r>
            <a:r>
              <a:rPr lang="en-US" dirty="0"/>
              <a:t> – Managing State</a:t>
            </a:r>
            <a:endParaRPr dirty="0"/>
          </a:p>
        </p:txBody>
      </p:sp>
      <p:sp>
        <p:nvSpPr>
          <p:cNvPr id="290" name="Google Shape;290;p15"/>
          <p:cNvSpPr txBox="1">
            <a:spLocks noGrp="1"/>
          </p:cNvSpPr>
          <p:nvPr>
            <p:ph type="subTitle" idx="1"/>
          </p:nvPr>
        </p:nvSpPr>
        <p:spPr>
          <a:xfrm>
            <a:off x="551789" y="1239815"/>
            <a:ext cx="7601100" cy="3595800"/>
          </a:xfrm>
          <a:prstGeom prst="rect">
            <a:avLst/>
          </a:prstGeom>
        </p:spPr>
        <p:txBody>
          <a:bodyPr spcFirstLastPara="1" wrap="square" lIns="91425" tIns="91425" rIns="91425" bIns="91425" anchor="t" anchorCtr="0">
            <a:normAutofit fontScale="92500" lnSpcReduction="10000"/>
          </a:bodyPr>
          <a:lstStyle/>
          <a:p>
            <a:pPr marL="0" lvl="0" indent="0"/>
            <a:r>
              <a:rPr lang="en-US" b="1" dirty="0" err="1" smtClean="0"/>
              <a:t>useState</a:t>
            </a:r>
            <a:r>
              <a:rPr lang="en-US" b="1" dirty="0" smtClean="0"/>
              <a:t> </a:t>
            </a:r>
            <a:r>
              <a:rPr lang="en-US" dirty="0"/>
              <a:t>Lets you add </a:t>
            </a:r>
            <a:r>
              <a:rPr lang="en-US" i="1" dirty="0"/>
              <a:t>state variables</a:t>
            </a:r>
            <a:r>
              <a:rPr lang="en-US" dirty="0"/>
              <a:t> to functional components</a:t>
            </a:r>
            <a:r>
              <a:rPr lang="en-US" dirty="0" smtClean="0"/>
              <a:t>.</a:t>
            </a:r>
          </a:p>
          <a:p>
            <a:pPr marL="0" lvl="0" indent="0"/>
            <a:endParaRPr lang="en-US" dirty="0" smtClean="0"/>
          </a:p>
          <a:p>
            <a:pPr marL="0" lvl="0" indent="0"/>
            <a:r>
              <a:rPr lang="en-US" dirty="0" err="1">
                <a:latin typeface="Montserrat"/>
                <a:ea typeface="Montserrat"/>
                <a:cs typeface="Montserrat"/>
                <a:sym typeface="Montserrat"/>
              </a:rPr>
              <a:t>const</a:t>
            </a:r>
            <a:r>
              <a:rPr lang="en-US" dirty="0">
                <a:latin typeface="Montserrat"/>
                <a:ea typeface="Montserrat"/>
                <a:cs typeface="Montserrat"/>
                <a:sym typeface="Montserrat"/>
              </a:rPr>
              <a:t> [count, </a:t>
            </a:r>
            <a:r>
              <a:rPr lang="en-US" dirty="0" err="1">
                <a:latin typeface="Montserrat"/>
                <a:ea typeface="Montserrat"/>
                <a:cs typeface="Montserrat"/>
                <a:sym typeface="Montserrat"/>
              </a:rPr>
              <a:t>setCount</a:t>
            </a:r>
            <a:r>
              <a:rPr lang="en-US" dirty="0">
                <a:latin typeface="Montserrat"/>
                <a:ea typeface="Montserrat"/>
                <a:cs typeface="Montserrat"/>
                <a:sym typeface="Montserrat"/>
              </a:rPr>
              <a:t>] = </a:t>
            </a:r>
            <a:r>
              <a:rPr lang="en-US" dirty="0" err="1">
                <a:latin typeface="Montserrat"/>
                <a:ea typeface="Montserrat"/>
                <a:cs typeface="Montserrat"/>
                <a:sym typeface="Montserrat"/>
              </a:rPr>
              <a:t>useState</a:t>
            </a:r>
            <a:r>
              <a:rPr lang="en-US" dirty="0">
                <a:latin typeface="Montserrat"/>
                <a:ea typeface="Montserrat"/>
                <a:cs typeface="Montserrat"/>
                <a:sym typeface="Montserrat"/>
              </a:rPr>
              <a:t>(0);</a:t>
            </a:r>
          </a:p>
          <a:p>
            <a:pPr marL="0" lvl="0" indent="0"/>
            <a:endParaRPr lang="en-US" dirty="0" smtClean="0">
              <a:latin typeface="Montserrat"/>
              <a:ea typeface="Montserrat"/>
              <a:cs typeface="Montserrat"/>
              <a:sym typeface="Montserrat"/>
            </a:endParaRPr>
          </a:p>
          <a:p>
            <a:pPr marL="0" lvl="0" indent="0"/>
            <a:r>
              <a:rPr lang="en-US" dirty="0">
                <a:latin typeface="Montserrat"/>
                <a:ea typeface="Montserrat"/>
                <a:cs typeface="Montserrat"/>
                <a:sym typeface="Montserrat"/>
              </a:rPr>
              <a:t>import React, { </a:t>
            </a:r>
            <a:r>
              <a:rPr lang="en-US" dirty="0" err="1">
                <a:latin typeface="Montserrat"/>
                <a:ea typeface="Montserrat"/>
                <a:cs typeface="Montserrat"/>
                <a:sym typeface="Montserrat"/>
              </a:rPr>
              <a:t>useState</a:t>
            </a:r>
            <a:r>
              <a:rPr lang="en-US" dirty="0">
                <a:latin typeface="Montserrat"/>
                <a:ea typeface="Montserrat"/>
                <a:cs typeface="Montserrat"/>
                <a:sym typeface="Montserrat"/>
              </a:rPr>
              <a:t> } from "react";</a:t>
            </a:r>
          </a:p>
          <a:p>
            <a:pPr marL="0" lvl="0" indent="0"/>
            <a:endParaRPr lang="en-US" dirty="0">
              <a:latin typeface="Montserrat"/>
              <a:ea typeface="Montserrat"/>
              <a:cs typeface="Montserrat"/>
              <a:sym typeface="Montserrat"/>
            </a:endParaRPr>
          </a:p>
          <a:p>
            <a:pPr marL="0" lvl="0" indent="0"/>
            <a:r>
              <a:rPr lang="en-US" dirty="0">
                <a:latin typeface="Montserrat"/>
                <a:ea typeface="Montserrat"/>
                <a:cs typeface="Montserrat"/>
                <a:sym typeface="Montserrat"/>
              </a:rPr>
              <a:t>function Counter() {</a:t>
            </a:r>
          </a:p>
          <a:p>
            <a:pPr marL="0" lvl="0" indent="0"/>
            <a:r>
              <a:rPr lang="en-US" dirty="0">
                <a:latin typeface="Montserrat"/>
                <a:ea typeface="Montserrat"/>
                <a:cs typeface="Montserrat"/>
                <a:sym typeface="Montserrat"/>
              </a:rPr>
              <a:t>  </a:t>
            </a:r>
            <a:r>
              <a:rPr lang="en-US" dirty="0" err="1">
                <a:latin typeface="Montserrat"/>
                <a:ea typeface="Montserrat"/>
                <a:cs typeface="Montserrat"/>
                <a:sym typeface="Montserrat"/>
              </a:rPr>
              <a:t>const</a:t>
            </a:r>
            <a:r>
              <a:rPr lang="en-US" dirty="0">
                <a:latin typeface="Montserrat"/>
                <a:ea typeface="Montserrat"/>
                <a:cs typeface="Montserrat"/>
                <a:sym typeface="Montserrat"/>
              </a:rPr>
              <a:t> [count, </a:t>
            </a:r>
            <a:r>
              <a:rPr lang="en-US" dirty="0" err="1">
                <a:latin typeface="Montserrat"/>
                <a:ea typeface="Montserrat"/>
                <a:cs typeface="Montserrat"/>
                <a:sym typeface="Montserrat"/>
              </a:rPr>
              <a:t>setCount</a:t>
            </a:r>
            <a:r>
              <a:rPr lang="en-US" dirty="0">
                <a:latin typeface="Montserrat"/>
                <a:ea typeface="Montserrat"/>
                <a:cs typeface="Montserrat"/>
                <a:sym typeface="Montserrat"/>
              </a:rPr>
              <a:t>] = </a:t>
            </a:r>
            <a:r>
              <a:rPr lang="en-US" dirty="0" err="1">
                <a:latin typeface="Montserrat"/>
                <a:ea typeface="Montserrat"/>
                <a:cs typeface="Montserrat"/>
                <a:sym typeface="Montserrat"/>
              </a:rPr>
              <a:t>useState</a:t>
            </a:r>
            <a:r>
              <a:rPr lang="en-US" dirty="0">
                <a:latin typeface="Montserrat"/>
                <a:ea typeface="Montserrat"/>
                <a:cs typeface="Montserrat"/>
                <a:sym typeface="Montserrat"/>
              </a:rPr>
              <a:t>(0);</a:t>
            </a:r>
          </a:p>
          <a:p>
            <a:pPr marL="0" lvl="0" indent="0"/>
            <a:endParaRPr lang="en-US" dirty="0">
              <a:latin typeface="Montserrat"/>
              <a:ea typeface="Montserrat"/>
              <a:cs typeface="Montserrat"/>
              <a:sym typeface="Montserrat"/>
            </a:endParaRPr>
          </a:p>
          <a:p>
            <a:pPr marL="0" lvl="0" indent="0"/>
            <a:r>
              <a:rPr lang="en-US" dirty="0">
                <a:latin typeface="Montserrat"/>
                <a:ea typeface="Montserrat"/>
                <a:cs typeface="Montserrat"/>
                <a:sym typeface="Montserrat"/>
              </a:rPr>
              <a:t>  return (</a:t>
            </a:r>
          </a:p>
          <a:p>
            <a:pPr marL="0" lvl="0" indent="0"/>
            <a:r>
              <a:rPr lang="en-US" dirty="0">
                <a:latin typeface="Montserrat"/>
                <a:ea typeface="Montserrat"/>
                <a:cs typeface="Montserrat"/>
                <a:sym typeface="Montserrat"/>
              </a:rPr>
              <a:t>    &lt;div&gt;</a:t>
            </a:r>
          </a:p>
          <a:p>
            <a:pPr marL="0" lvl="0" indent="0"/>
            <a:r>
              <a:rPr lang="en-US" dirty="0">
                <a:latin typeface="Montserrat"/>
                <a:ea typeface="Montserrat"/>
                <a:cs typeface="Montserrat"/>
                <a:sym typeface="Montserrat"/>
              </a:rPr>
              <a:t>      &lt;h2&gt;You clicked {count} times&lt;/h2&gt;</a:t>
            </a:r>
          </a:p>
          <a:p>
            <a:pPr marL="0" lvl="0" indent="0"/>
            <a:r>
              <a:rPr lang="en-US" dirty="0">
                <a:latin typeface="Montserrat"/>
                <a:ea typeface="Montserrat"/>
                <a:cs typeface="Montserrat"/>
                <a:sym typeface="Montserrat"/>
              </a:rPr>
              <a:t>      &lt;button </a:t>
            </a:r>
            <a:r>
              <a:rPr lang="en-US" dirty="0" err="1">
                <a:latin typeface="Montserrat"/>
                <a:ea typeface="Montserrat"/>
                <a:cs typeface="Montserrat"/>
                <a:sym typeface="Montserrat"/>
              </a:rPr>
              <a:t>onClick</a:t>
            </a:r>
            <a:r>
              <a:rPr lang="en-US" dirty="0">
                <a:latin typeface="Montserrat"/>
                <a:ea typeface="Montserrat"/>
                <a:cs typeface="Montserrat"/>
                <a:sym typeface="Montserrat"/>
              </a:rPr>
              <a:t>={() =&gt; </a:t>
            </a:r>
            <a:r>
              <a:rPr lang="en-US" dirty="0" err="1">
                <a:latin typeface="Montserrat"/>
                <a:ea typeface="Montserrat"/>
                <a:cs typeface="Montserrat"/>
                <a:sym typeface="Montserrat"/>
              </a:rPr>
              <a:t>setCount</a:t>
            </a:r>
            <a:r>
              <a:rPr lang="en-US" dirty="0">
                <a:latin typeface="Montserrat"/>
                <a:ea typeface="Montserrat"/>
                <a:cs typeface="Montserrat"/>
                <a:sym typeface="Montserrat"/>
              </a:rPr>
              <a:t>(count + 1)}&gt;Click +1&lt;/button&gt;</a:t>
            </a:r>
          </a:p>
          <a:p>
            <a:pPr marL="0" lvl="0" indent="0"/>
            <a:r>
              <a:rPr lang="en-US" dirty="0">
                <a:latin typeface="Montserrat"/>
                <a:ea typeface="Montserrat"/>
                <a:cs typeface="Montserrat"/>
                <a:sym typeface="Montserrat"/>
              </a:rPr>
              <a:t>    &lt;/div&gt;</a:t>
            </a:r>
          </a:p>
          <a:p>
            <a:pPr marL="0" lvl="0" indent="0"/>
            <a:r>
              <a:rPr lang="en-US" dirty="0">
                <a:latin typeface="Montserrat"/>
                <a:ea typeface="Montserrat"/>
                <a:cs typeface="Montserrat"/>
                <a:sym typeface="Montserrat"/>
              </a:rPr>
              <a:t>  );</a:t>
            </a:r>
          </a:p>
          <a:p>
            <a:pPr marL="0" lvl="0" indent="0"/>
            <a:r>
              <a:rPr lang="en-US" dirty="0">
                <a:latin typeface="Montserrat"/>
                <a:ea typeface="Montserrat"/>
                <a:cs typeface="Montserrat"/>
                <a:sym typeface="Montserrat"/>
              </a:rPr>
              <a:t>}</a:t>
            </a:r>
          </a:p>
          <a:p>
            <a:pPr marL="0" lvl="0" indent="0"/>
            <a:endParaRPr lang="en-US" dirty="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88"/>
        <p:cNvGrpSpPr/>
        <p:nvPr/>
      </p:nvGrpSpPr>
      <p:grpSpPr>
        <a:xfrm>
          <a:off x="0" y="0"/>
          <a:ext cx="0" cy="0"/>
          <a:chOff x="0" y="0"/>
          <a:chExt cx="0" cy="0"/>
        </a:xfrm>
      </p:grpSpPr>
      <p:sp>
        <p:nvSpPr>
          <p:cNvPr id="289" name="Google Shape;289;p15"/>
          <p:cNvSpPr txBox="1">
            <a:spLocks noGrp="1"/>
          </p:cNvSpPr>
          <p:nvPr>
            <p:ph type="ctrTitle"/>
          </p:nvPr>
        </p:nvSpPr>
        <p:spPr>
          <a:xfrm>
            <a:off x="823998" y="453954"/>
            <a:ext cx="8320002" cy="695400"/>
          </a:xfrm>
          <a:prstGeom prst="rect">
            <a:avLst/>
          </a:prstGeom>
        </p:spPr>
        <p:txBody>
          <a:bodyPr spcFirstLastPara="1" wrap="square" lIns="91425" tIns="91425" rIns="91425" bIns="91425" anchor="ctr" anchorCtr="0">
            <a:normAutofit fontScale="90000"/>
          </a:bodyPr>
          <a:lstStyle/>
          <a:p>
            <a:pPr lvl="0"/>
            <a:r>
              <a:rPr lang="en-US" dirty="0" err="1"/>
              <a:t>useEffect</a:t>
            </a:r>
            <a:r>
              <a:rPr lang="en-US" dirty="0"/>
              <a:t> – Side Effects (Lifecycle Control)</a:t>
            </a:r>
            <a:endParaRPr dirty="0"/>
          </a:p>
        </p:txBody>
      </p:sp>
      <p:sp>
        <p:nvSpPr>
          <p:cNvPr id="290" name="Google Shape;290;p15"/>
          <p:cNvSpPr txBox="1">
            <a:spLocks noGrp="1"/>
          </p:cNvSpPr>
          <p:nvPr>
            <p:ph type="subTitle" idx="1"/>
          </p:nvPr>
        </p:nvSpPr>
        <p:spPr>
          <a:xfrm>
            <a:off x="570450" y="1547725"/>
            <a:ext cx="7601100" cy="3595800"/>
          </a:xfrm>
          <a:prstGeom prst="rect">
            <a:avLst/>
          </a:prstGeom>
        </p:spPr>
        <p:txBody>
          <a:bodyPr spcFirstLastPara="1" wrap="square" lIns="91425" tIns="91425" rIns="91425" bIns="91425" anchor="t" anchorCtr="0">
            <a:normAutofit fontScale="77500" lnSpcReduction="20000"/>
          </a:bodyPr>
          <a:lstStyle/>
          <a:p>
            <a:pPr algn="just"/>
            <a:r>
              <a:rPr lang="en-US" dirty="0"/>
              <a:t>Runs code that interacts with the outside world or reacts to state changes </a:t>
            </a:r>
            <a:r>
              <a:rPr lang="en-US" dirty="0" smtClean="0"/>
              <a:t>fetching </a:t>
            </a:r>
            <a:r>
              <a:rPr lang="en-US" dirty="0"/>
              <a:t>data, subscribing, timers, etc</a:t>
            </a:r>
            <a:r>
              <a:rPr lang="en-US" dirty="0" smtClean="0"/>
              <a:t>.</a:t>
            </a:r>
          </a:p>
          <a:p>
            <a:pPr algn="just"/>
            <a:endParaRPr lang="en-US" dirty="0"/>
          </a:p>
          <a:p>
            <a:pPr algn="just"/>
            <a:r>
              <a:rPr lang="en-US" dirty="0" err="1"/>
              <a:t>useEffect</a:t>
            </a:r>
            <a:r>
              <a:rPr lang="en-US" dirty="0"/>
              <a:t>(() =&gt; {</a:t>
            </a:r>
          </a:p>
          <a:p>
            <a:pPr algn="just"/>
            <a:r>
              <a:rPr lang="en-US" dirty="0"/>
              <a:t>  // effect logic</a:t>
            </a:r>
          </a:p>
          <a:p>
            <a:pPr algn="just"/>
            <a:r>
              <a:rPr lang="en-US" dirty="0"/>
              <a:t>  return () =&gt; {</a:t>
            </a:r>
          </a:p>
          <a:p>
            <a:pPr algn="just"/>
            <a:r>
              <a:rPr lang="en-US" dirty="0"/>
              <a:t>    // cleanup logic</a:t>
            </a:r>
          </a:p>
          <a:p>
            <a:pPr algn="just"/>
            <a:r>
              <a:rPr lang="en-US" dirty="0"/>
              <a:t>  };</a:t>
            </a:r>
          </a:p>
          <a:p>
            <a:pPr algn="just"/>
            <a:r>
              <a:rPr lang="en-US" dirty="0"/>
              <a:t>}, [dependencies]);</a:t>
            </a:r>
          </a:p>
          <a:p>
            <a:pPr algn="just"/>
            <a:endParaRPr lang="en-US" dirty="0" smtClean="0"/>
          </a:p>
          <a:p>
            <a:pPr algn="just"/>
            <a:r>
              <a:rPr lang="en-US" dirty="0"/>
              <a:t>import React, { </a:t>
            </a:r>
            <a:r>
              <a:rPr lang="en-US" dirty="0" err="1"/>
              <a:t>useEffect</a:t>
            </a:r>
            <a:r>
              <a:rPr lang="en-US" dirty="0"/>
              <a:t>, </a:t>
            </a:r>
            <a:r>
              <a:rPr lang="en-US" dirty="0" err="1"/>
              <a:t>useState</a:t>
            </a:r>
            <a:r>
              <a:rPr lang="en-US" dirty="0"/>
              <a:t> } from "react";</a:t>
            </a:r>
          </a:p>
          <a:p>
            <a:pPr algn="just"/>
            <a:endParaRPr lang="en-US" dirty="0"/>
          </a:p>
          <a:p>
            <a:pPr algn="just"/>
            <a:r>
              <a:rPr lang="en-US" dirty="0"/>
              <a:t>function Timer() {</a:t>
            </a:r>
          </a:p>
          <a:p>
            <a:pPr algn="just"/>
            <a:r>
              <a:rPr lang="en-US" dirty="0"/>
              <a:t>  </a:t>
            </a:r>
            <a:r>
              <a:rPr lang="en-US" dirty="0" err="1"/>
              <a:t>const</a:t>
            </a:r>
            <a:r>
              <a:rPr lang="en-US" dirty="0"/>
              <a:t> [seconds, </a:t>
            </a:r>
            <a:r>
              <a:rPr lang="en-US" dirty="0" err="1"/>
              <a:t>setSeconds</a:t>
            </a:r>
            <a:r>
              <a:rPr lang="en-US" dirty="0"/>
              <a:t>] = </a:t>
            </a:r>
            <a:r>
              <a:rPr lang="en-US" dirty="0" err="1"/>
              <a:t>useState</a:t>
            </a:r>
            <a:r>
              <a:rPr lang="en-US" dirty="0"/>
              <a:t>(0);</a:t>
            </a:r>
          </a:p>
          <a:p>
            <a:pPr algn="just"/>
            <a:endParaRPr lang="en-US" dirty="0"/>
          </a:p>
          <a:p>
            <a:pPr algn="just"/>
            <a:r>
              <a:rPr lang="en-US" dirty="0"/>
              <a:t>  </a:t>
            </a:r>
            <a:r>
              <a:rPr lang="en-US" dirty="0" err="1"/>
              <a:t>useEffect</a:t>
            </a:r>
            <a:r>
              <a:rPr lang="en-US" dirty="0"/>
              <a:t>(() =&gt; {</a:t>
            </a:r>
          </a:p>
          <a:p>
            <a:pPr algn="just"/>
            <a:r>
              <a:rPr lang="en-US" dirty="0"/>
              <a:t>    </a:t>
            </a:r>
            <a:r>
              <a:rPr lang="en-US" dirty="0" err="1"/>
              <a:t>const</a:t>
            </a:r>
            <a:r>
              <a:rPr lang="en-US" dirty="0"/>
              <a:t> interval = </a:t>
            </a:r>
            <a:r>
              <a:rPr lang="en-US" dirty="0" err="1"/>
              <a:t>setInterval</a:t>
            </a:r>
            <a:r>
              <a:rPr lang="en-US" dirty="0"/>
              <a:t>(() =&gt; </a:t>
            </a:r>
            <a:r>
              <a:rPr lang="en-US" dirty="0" err="1"/>
              <a:t>setSeconds</a:t>
            </a:r>
            <a:r>
              <a:rPr lang="en-US" dirty="0"/>
              <a:t>(s =&gt; s + 1), 1000);</a:t>
            </a:r>
          </a:p>
          <a:p>
            <a:pPr algn="just"/>
            <a:r>
              <a:rPr lang="en-US" dirty="0"/>
              <a:t>    return () =&gt; </a:t>
            </a:r>
            <a:r>
              <a:rPr lang="en-US" dirty="0" err="1"/>
              <a:t>clearInterval</a:t>
            </a:r>
            <a:r>
              <a:rPr lang="en-US" dirty="0"/>
              <a:t>(interval); // cleanup</a:t>
            </a:r>
          </a:p>
          <a:p>
            <a:pPr algn="just"/>
            <a:r>
              <a:rPr lang="en-US" dirty="0"/>
              <a:t>  }, []); // run once when mounted</a:t>
            </a:r>
          </a:p>
          <a:p>
            <a:pPr algn="just"/>
            <a:endParaRPr lang="en-US" dirty="0"/>
          </a:p>
          <a:p>
            <a:pPr algn="just"/>
            <a:r>
              <a:rPr lang="en-US" dirty="0"/>
              <a:t>  return &lt;h2&gt;{seconds} seconds elapsed&lt;/h2&gt;;</a:t>
            </a:r>
          </a:p>
          <a:p>
            <a:pPr algn="just"/>
            <a:r>
              <a:rPr lang="en-US" dirty="0"/>
              <a:t>}</a:t>
            </a:r>
          </a:p>
          <a:p>
            <a:pPr algn="just"/>
            <a:endParaRPr lang="en-US" dirty="0"/>
          </a:p>
        </p:txBody>
      </p:sp>
    </p:spTree>
    <p:extLst>
      <p:ext uri="{BB962C8B-B14F-4D97-AF65-F5344CB8AC3E}">
        <p14:creationId xmlns:p14="http://schemas.microsoft.com/office/powerpoint/2010/main" val="1520209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294"/>
        <p:cNvGrpSpPr/>
        <p:nvPr/>
      </p:nvGrpSpPr>
      <p:grpSpPr>
        <a:xfrm>
          <a:off x="0" y="0"/>
          <a:ext cx="0" cy="0"/>
          <a:chOff x="0" y="0"/>
          <a:chExt cx="0" cy="0"/>
        </a:xfrm>
      </p:grpSpPr>
      <p:sp>
        <p:nvSpPr>
          <p:cNvPr id="295" name="Google Shape;295;p16"/>
          <p:cNvSpPr txBox="1">
            <a:spLocks noGrp="1"/>
          </p:cNvSpPr>
          <p:nvPr>
            <p:ph type="ctrTitle"/>
          </p:nvPr>
        </p:nvSpPr>
        <p:spPr>
          <a:xfrm>
            <a:off x="823999" y="352700"/>
            <a:ext cx="7909454" cy="1043400"/>
          </a:xfrm>
          <a:prstGeom prst="rect">
            <a:avLst/>
          </a:prstGeom>
        </p:spPr>
        <p:txBody>
          <a:bodyPr spcFirstLastPara="1" wrap="square" lIns="91425" tIns="91425" rIns="91425" bIns="91425" anchor="ctr" anchorCtr="0">
            <a:normAutofit fontScale="90000"/>
          </a:bodyPr>
          <a:lstStyle/>
          <a:p>
            <a:r>
              <a:rPr lang="en-US" dirty="0" err="1"/>
              <a:t>useRef</a:t>
            </a:r>
            <a:r>
              <a:rPr lang="en-US" dirty="0"/>
              <a:t> – Referencing DOM &amp; Persisting Values</a:t>
            </a:r>
            <a:endParaRPr lang="en-US" dirty="0"/>
          </a:p>
        </p:txBody>
      </p:sp>
      <p:sp>
        <p:nvSpPr>
          <p:cNvPr id="296" name="Google Shape;296;p16"/>
          <p:cNvSpPr txBox="1">
            <a:spLocks noGrp="1"/>
          </p:cNvSpPr>
          <p:nvPr>
            <p:ph type="subTitle" idx="1"/>
          </p:nvPr>
        </p:nvSpPr>
        <p:spPr>
          <a:xfrm>
            <a:off x="824000" y="1637375"/>
            <a:ext cx="7508400" cy="3195882"/>
          </a:xfrm>
          <a:prstGeom prst="rect">
            <a:avLst/>
          </a:prstGeom>
        </p:spPr>
        <p:txBody>
          <a:bodyPr spcFirstLastPara="1" wrap="square" lIns="91425" tIns="91425" rIns="91425" bIns="91425" anchor="t" anchorCtr="0">
            <a:normAutofit fontScale="77500" lnSpcReduction="20000"/>
          </a:bodyPr>
          <a:lstStyle/>
          <a:p>
            <a:r>
              <a:rPr lang="en-US" dirty="0"/>
              <a:t>Lets you directly access a DOM element </a:t>
            </a:r>
            <a:r>
              <a:rPr lang="en-US" b="1" dirty="0"/>
              <a:t>or</a:t>
            </a:r>
            <a:r>
              <a:rPr lang="en-US" dirty="0"/>
              <a:t> keep a value that </a:t>
            </a:r>
            <a:r>
              <a:rPr lang="en-US" i="1" dirty="0"/>
              <a:t>does not trigger re-renders</a:t>
            </a:r>
            <a:r>
              <a:rPr lang="en-US" dirty="0"/>
              <a:t> when changed</a:t>
            </a:r>
            <a:r>
              <a:rPr lang="en-US" dirty="0" smtClean="0"/>
              <a:t>.</a:t>
            </a:r>
          </a:p>
          <a:p>
            <a:r>
              <a:rPr lang="en-US" dirty="0"/>
              <a:t>import React, { </a:t>
            </a:r>
            <a:r>
              <a:rPr lang="en-US" dirty="0" err="1"/>
              <a:t>useRef</a:t>
            </a:r>
            <a:r>
              <a:rPr lang="en-US" dirty="0"/>
              <a:t> } from "react";</a:t>
            </a:r>
          </a:p>
          <a:p>
            <a:endParaRPr lang="en-US" dirty="0"/>
          </a:p>
          <a:p>
            <a:r>
              <a:rPr lang="en-US" dirty="0"/>
              <a:t>function </a:t>
            </a:r>
            <a:r>
              <a:rPr lang="en-US" dirty="0" err="1"/>
              <a:t>FocusInput</a:t>
            </a:r>
            <a:r>
              <a:rPr lang="en-US" dirty="0"/>
              <a:t>() {</a:t>
            </a:r>
          </a:p>
          <a:p>
            <a:r>
              <a:rPr lang="en-US" dirty="0"/>
              <a:t>  </a:t>
            </a:r>
            <a:r>
              <a:rPr lang="en-US" dirty="0" err="1"/>
              <a:t>const</a:t>
            </a:r>
            <a:r>
              <a:rPr lang="en-US" dirty="0"/>
              <a:t> </a:t>
            </a:r>
            <a:r>
              <a:rPr lang="en-US" dirty="0" err="1"/>
              <a:t>inputRef</a:t>
            </a:r>
            <a:r>
              <a:rPr lang="en-US" dirty="0"/>
              <a:t> = </a:t>
            </a:r>
            <a:r>
              <a:rPr lang="en-US" dirty="0" err="1"/>
              <a:t>useRef</a:t>
            </a:r>
            <a:r>
              <a:rPr lang="en-US" dirty="0"/>
              <a:t>(null);</a:t>
            </a:r>
          </a:p>
          <a:p>
            <a:endParaRPr lang="en-US" dirty="0"/>
          </a:p>
          <a:p>
            <a:r>
              <a:rPr lang="en-US" dirty="0"/>
              <a:t>  </a:t>
            </a:r>
            <a:r>
              <a:rPr lang="en-US" dirty="0" err="1"/>
              <a:t>const</a:t>
            </a:r>
            <a:r>
              <a:rPr lang="en-US" dirty="0"/>
              <a:t> </a:t>
            </a:r>
            <a:r>
              <a:rPr lang="en-US" dirty="0" err="1"/>
              <a:t>focusInput</a:t>
            </a:r>
            <a:r>
              <a:rPr lang="en-US" dirty="0"/>
              <a:t> = () =&gt; </a:t>
            </a:r>
            <a:r>
              <a:rPr lang="en-US" dirty="0" err="1"/>
              <a:t>inputRef.current.focus</a:t>
            </a:r>
            <a:r>
              <a:rPr lang="en-US" dirty="0"/>
              <a:t>();</a:t>
            </a:r>
          </a:p>
          <a:p>
            <a:endParaRPr lang="en-US" dirty="0"/>
          </a:p>
          <a:p>
            <a:r>
              <a:rPr lang="en-US" dirty="0"/>
              <a:t>  return (</a:t>
            </a:r>
          </a:p>
          <a:p>
            <a:r>
              <a:rPr lang="en-US" dirty="0"/>
              <a:t>    &lt;div&gt;</a:t>
            </a:r>
          </a:p>
          <a:p>
            <a:r>
              <a:rPr lang="en-US" dirty="0"/>
              <a:t>      &lt;input ref={</a:t>
            </a:r>
            <a:r>
              <a:rPr lang="en-US" dirty="0" err="1"/>
              <a:t>inputRef</a:t>
            </a:r>
            <a:r>
              <a:rPr lang="en-US" dirty="0"/>
              <a:t>} placeholder="Click button to focus me" /&gt;</a:t>
            </a:r>
          </a:p>
          <a:p>
            <a:r>
              <a:rPr lang="en-US" dirty="0"/>
              <a:t>      &lt;button </a:t>
            </a:r>
            <a:r>
              <a:rPr lang="en-US" dirty="0" err="1"/>
              <a:t>onClick</a:t>
            </a:r>
            <a:r>
              <a:rPr lang="en-US" dirty="0"/>
              <a:t>={</a:t>
            </a:r>
            <a:r>
              <a:rPr lang="en-US" dirty="0" err="1"/>
              <a:t>focusInput</a:t>
            </a:r>
            <a:r>
              <a:rPr lang="en-US" dirty="0"/>
              <a:t>}&gt;Focus&lt;/button&gt;</a:t>
            </a:r>
          </a:p>
          <a:p>
            <a:r>
              <a:rPr lang="en-US" dirty="0"/>
              <a:t>    &lt;/div&gt;</a:t>
            </a:r>
          </a:p>
          <a:p>
            <a:r>
              <a:rPr lang="en-US" dirty="0"/>
              <a:t>  );</a:t>
            </a:r>
          </a:p>
          <a:p>
            <a:r>
              <a:rPr lang="en-US" dirty="0"/>
              <a:t>}</a:t>
            </a:r>
          </a:p>
          <a:p>
            <a:endParaRPr lang="en-US" dirty="0" smtClean="0"/>
          </a:p>
          <a:p>
            <a:r>
              <a:rPr lang="en-US" dirty="0" err="1"/>
              <a:t>const</a:t>
            </a:r>
            <a:r>
              <a:rPr lang="en-US" dirty="0"/>
              <a:t> </a:t>
            </a:r>
            <a:r>
              <a:rPr lang="en-US" dirty="0" err="1"/>
              <a:t>renderCount</a:t>
            </a:r>
            <a:r>
              <a:rPr lang="en-US" dirty="0"/>
              <a:t> = </a:t>
            </a:r>
            <a:r>
              <a:rPr lang="en-US" dirty="0" err="1"/>
              <a:t>useRef</a:t>
            </a:r>
            <a:r>
              <a:rPr lang="en-US" dirty="0"/>
              <a:t>(0);</a:t>
            </a:r>
          </a:p>
          <a:p>
            <a:r>
              <a:rPr lang="en-US" dirty="0" err="1"/>
              <a:t>renderCount.current</a:t>
            </a:r>
            <a:r>
              <a:rPr lang="en-US" dirty="0"/>
              <a:t> += 1;</a:t>
            </a:r>
          </a:p>
          <a:p>
            <a:r>
              <a:rPr lang="en-US" dirty="0"/>
              <a:t>console.log("Rendered:", </a:t>
            </a:r>
            <a:r>
              <a:rPr lang="en-US" dirty="0" err="1"/>
              <a:t>renderCount.current</a:t>
            </a:r>
            <a:r>
              <a:rPr lang="en-US" dirty="0"/>
              <a:t>);</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301"/>
        <p:cNvGrpSpPr/>
        <p:nvPr/>
      </p:nvGrpSpPr>
      <p:grpSpPr>
        <a:xfrm>
          <a:off x="0" y="0"/>
          <a:ext cx="0" cy="0"/>
          <a:chOff x="0" y="0"/>
          <a:chExt cx="0" cy="0"/>
        </a:xfrm>
      </p:grpSpPr>
      <p:sp>
        <p:nvSpPr>
          <p:cNvPr id="302" name="Google Shape;302;p17"/>
          <p:cNvSpPr txBox="1">
            <a:spLocks noGrp="1"/>
          </p:cNvSpPr>
          <p:nvPr>
            <p:ph type="ctrTitle"/>
          </p:nvPr>
        </p:nvSpPr>
        <p:spPr>
          <a:xfrm>
            <a:off x="824000" y="-12"/>
            <a:ext cx="7256310" cy="1872900"/>
          </a:xfrm>
          <a:prstGeom prst="rect">
            <a:avLst/>
          </a:prstGeom>
        </p:spPr>
        <p:txBody>
          <a:bodyPr spcFirstLastPara="1" wrap="square" lIns="91425" tIns="91425" rIns="91425" bIns="91425" anchor="ctr" anchorCtr="0">
            <a:normAutofit/>
          </a:bodyPr>
          <a:lstStyle/>
          <a:p>
            <a:r>
              <a:rPr lang="en-US" dirty="0"/>
              <a:t>Custom Hooks – Reusable Logic</a:t>
            </a:r>
            <a:endParaRPr lang="en-US" dirty="0"/>
          </a:p>
        </p:txBody>
      </p:sp>
      <p:sp>
        <p:nvSpPr>
          <p:cNvPr id="303" name="Google Shape;303;p17"/>
          <p:cNvSpPr txBox="1">
            <a:spLocks noGrp="1"/>
          </p:cNvSpPr>
          <p:nvPr>
            <p:ph type="subTitle" idx="1"/>
          </p:nvPr>
        </p:nvSpPr>
        <p:spPr>
          <a:xfrm>
            <a:off x="824000" y="1513649"/>
            <a:ext cx="7728900" cy="3403583"/>
          </a:xfrm>
          <a:prstGeom prst="rect">
            <a:avLst/>
          </a:prstGeom>
        </p:spPr>
        <p:txBody>
          <a:bodyPr spcFirstLastPara="1" wrap="square" lIns="91425" tIns="91425" rIns="91425" bIns="91425" anchor="t" anchorCtr="0">
            <a:normAutofit fontScale="55000" lnSpcReduction="20000"/>
          </a:bodyPr>
          <a:lstStyle/>
          <a:p>
            <a:r>
              <a:rPr lang="en-US" dirty="0"/>
              <a:t>Let you extract and reuse </a:t>
            </a:r>
            <a:r>
              <a:rPr lang="en-US" dirty="0" err="1"/>
              <a:t>stateful</a:t>
            </a:r>
            <a:r>
              <a:rPr lang="en-US" dirty="0"/>
              <a:t> logic across </a:t>
            </a:r>
            <a:r>
              <a:rPr lang="en-US" dirty="0" smtClean="0"/>
              <a:t>components.</a:t>
            </a:r>
          </a:p>
          <a:p>
            <a:endParaRPr lang="en-US" dirty="0"/>
          </a:p>
          <a:p>
            <a:r>
              <a:rPr lang="en-US" dirty="0"/>
              <a:t>import { </a:t>
            </a:r>
            <a:r>
              <a:rPr lang="en-US" dirty="0" err="1"/>
              <a:t>useState</a:t>
            </a:r>
            <a:r>
              <a:rPr lang="en-US" dirty="0"/>
              <a:t>, </a:t>
            </a:r>
            <a:r>
              <a:rPr lang="en-US" dirty="0" err="1"/>
              <a:t>useEffect</a:t>
            </a:r>
            <a:r>
              <a:rPr lang="en-US" dirty="0"/>
              <a:t> } from "react";</a:t>
            </a:r>
          </a:p>
          <a:p>
            <a:endParaRPr lang="en-US" dirty="0"/>
          </a:p>
          <a:p>
            <a:r>
              <a:rPr lang="en-US" dirty="0"/>
              <a:t>function </a:t>
            </a:r>
            <a:r>
              <a:rPr lang="en-US" dirty="0" err="1"/>
              <a:t>useFetch</a:t>
            </a:r>
            <a:r>
              <a:rPr lang="en-US" dirty="0"/>
              <a:t>(</a:t>
            </a:r>
            <a:r>
              <a:rPr lang="en-US" dirty="0" err="1"/>
              <a:t>url</a:t>
            </a:r>
            <a:r>
              <a:rPr lang="en-US" dirty="0"/>
              <a:t>) {</a:t>
            </a:r>
          </a:p>
          <a:p>
            <a:r>
              <a:rPr lang="en-US" dirty="0"/>
              <a:t>  </a:t>
            </a:r>
            <a:r>
              <a:rPr lang="en-US" dirty="0" err="1"/>
              <a:t>const</a:t>
            </a:r>
            <a:r>
              <a:rPr lang="en-US" dirty="0"/>
              <a:t> [data, </a:t>
            </a:r>
            <a:r>
              <a:rPr lang="en-US" dirty="0" err="1"/>
              <a:t>setData</a:t>
            </a:r>
            <a:r>
              <a:rPr lang="en-US" dirty="0"/>
              <a:t>] = </a:t>
            </a:r>
            <a:r>
              <a:rPr lang="en-US" dirty="0" err="1"/>
              <a:t>useState</a:t>
            </a:r>
            <a:r>
              <a:rPr lang="en-US" dirty="0"/>
              <a:t>(null);</a:t>
            </a:r>
          </a:p>
          <a:p>
            <a:endParaRPr lang="en-US" dirty="0"/>
          </a:p>
          <a:p>
            <a:r>
              <a:rPr lang="en-US" dirty="0"/>
              <a:t>  </a:t>
            </a:r>
            <a:r>
              <a:rPr lang="en-US" dirty="0" err="1"/>
              <a:t>useEffect</a:t>
            </a:r>
            <a:r>
              <a:rPr lang="en-US" dirty="0"/>
              <a:t>(() =&gt; {</a:t>
            </a:r>
          </a:p>
          <a:p>
            <a:r>
              <a:rPr lang="en-US" dirty="0"/>
              <a:t>    fetch(</a:t>
            </a:r>
            <a:r>
              <a:rPr lang="en-US" dirty="0" err="1"/>
              <a:t>url</a:t>
            </a:r>
            <a:r>
              <a:rPr lang="en-US" dirty="0"/>
              <a:t>)</a:t>
            </a:r>
          </a:p>
          <a:p>
            <a:r>
              <a:rPr lang="en-US" dirty="0"/>
              <a:t>      .then(res =&gt; </a:t>
            </a:r>
            <a:r>
              <a:rPr lang="en-US" dirty="0" err="1"/>
              <a:t>res.json</a:t>
            </a:r>
            <a:r>
              <a:rPr lang="en-US" dirty="0"/>
              <a:t>())</a:t>
            </a:r>
          </a:p>
          <a:p>
            <a:r>
              <a:rPr lang="en-US" dirty="0"/>
              <a:t>      .then(data =&gt; </a:t>
            </a:r>
            <a:r>
              <a:rPr lang="en-US" dirty="0" err="1"/>
              <a:t>setData</a:t>
            </a:r>
            <a:r>
              <a:rPr lang="en-US" dirty="0"/>
              <a:t>(data));</a:t>
            </a:r>
          </a:p>
          <a:p>
            <a:r>
              <a:rPr lang="en-US" dirty="0"/>
              <a:t>  }, [</a:t>
            </a:r>
            <a:r>
              <a:rPr lang="en-US" dirty="0" err="1"/>
              <a:t>url</a:t>
            </a:r>
            <a:r>
              <a:rPr lang="en-US" dirty="0"/>
              <a:t>]);</a:t>
            </a:r>
          </a:p>
          <a:p>
            <a:endParaRPr lang="en-US" dirty="0"/>
          </a:p>
          <a:p>
            <a:r>
              <a:rPr lang="en-US" dirty="0"/>
              <a:t>  return data;</a:t>
            </a:r>
          </a:p>
          <a:p>
            <a:r>
              <a:rPr lang="en-US" dirty="0"/>
              <a:t>}</a:t>
            </a:r>
          </a:p>
          <a:p>
            <a:endParaRPr lang="en-US" dirty="0"/>
          </a:p>
          <a:p>
            <a:r>
              <a:rPr lang="en-US" dirty="0"/>
              <a:t>// Using it in a component</a:t>
            </a:r>
          </a:p>
          <a:p>
            <a:r>
              <a:rPr lang="en-US" dirty="0"/>
              <a:t>function Users() {</a:t>
            </a:r>
          </a:p>
          <a:p>
            <a:r>
              <a:rPr lang="en-US" dirty="0"/>
              <a:t>  </a:t>
            </a:r>
            <a:r>
              <a:rPr lang="en-US" dirty="0" err="1"/>
              <a:t>const</a:t>
            </a:r>
            <a:r>
              <a:rPr lang="en-US" dirty="0"/>
              <a:t> users = </a:t>
            </a:r>
            <a:r>
              <a:rPr lang="en-US" dirty="0" err="1"/>
              <a:t>useFetch</a:t>
            </a:r>
            <a:r>
              <a:rPr lang="en-US" dirty="0"/>
              <a:t>("https://jsonplaceholder.typicode.com/users");</a:t>
            </a:r>
          </a:p>
          <a:p>
            <a:endParaRPr lang="en-US" dirty="0"/>
          </a:p>
          <a:p>
            <a:r>
              <a:rPr lang="en-US" dirty="0"/>
              <a:t>  if (!users) return &lt;p&gt;Loading...&lt;/p&gt;;</a:t>
            </a:r>
          </a:p>
          <a:p>
            <a:r>
              <a:rPr lang="en-US" dirty="0"/>
              <a:t>  return (</a:t>
            </a:r>
          </a:p>
          <a:p>
            <a:r>
              <a:rPr lang="en-US" dirty="0"/>
              <a:t>    &lt;</a:t>
            </a:r>
            <a:r>
              <a:rPr lang="en-US" dirty="0" err="1"/>
              <a:t>ul</a:t>
            </a:r>
            <a:r>
              <a:rPr lang="en-US" dirty="0"/>
              <a:t>&gt;</a:t>
            </a:r>
          </a:p>
          <a:p>
            <a:r>
              <a:rPr lang="en-US" dirty="0"/>
              <a:t>      {</a:t>
            </a:r>
            <a:r>
              <a:rPr lang="en-US" dirty="0" err="1"/>
              <a:t>users.map</a:t>
            </a:r>
            <a:r>
              <a:rPr lang="en-US" dirty="0"/>
              <a:t>(u =&gt; &lt;li key={u.id}&gt;{u.name}&lt;/li&gt;)}</a:t>
            </a:r>
          </a:p>
          <a:p>
            <a:r>
              <a:rPr lang="en-US" dirty="0"/>
              <a:t>    &lt;/</a:t>
            </a:r>
            <a:r>
              <a:rPr lang="en-US" dirty="0" err="1"/>
              <a:t>ul</a:t>
            </a:r>
            <a:r>
              <a:rPr lang="en-US" dirty="0"/>
              <a:t>&gt;</a:t>
            </a:r>
          </a:p>
          <a:p>
            <a:r>
              <a:rPr lang="en-US" dirty="0"/>
              <a:t>  );</a:t>
            </a:r>
          </a:p>
          <a:p>
            <a:r>
              <a:rPr lang="en-US" dirty="0"/>
              <a:t>}</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4587"/>
        </a:solidFill>
        <a:effectLst/>
      </p:bgPr>
    </p:bg>
    <p:spTree>
      <p:nvGrpSpPr>
        <p:cNvPr id="1" name="Shape 313"/>
        <p:cNvGrpSpPr/>
        <p:nvPr/>
      </p:nvGrpSpPr>
      <p:grpSpPr>
        <a:xfrm>
          <a:off x="0" y="0"/>
          <a:ext cx="0" cy="0"/>
          <a:chOff x="0" y="0"/>
          <a:chExt cx="0" cy="0"/>
        </a:xfrm>
      </p:grpSpPr>
      <p:sp>
        <p:nvSpPr>
          <p:cNvPr id="314" name="Google Shape;314;p19"/>
          <p:cNvSpPr txBox="1">
            <a:spLocks noGrp="1"/>
          </p:cNvSpPr>
          <p:nvPr>
            <p:ph type="ctrTitle"/>
          </p:nvPr>
        </p:nvSpPr>
        <p:spPr>
          <a:xfrm>
            <a:off x="803945" y="708584"/>
            <a:ext cx="4822414" cy="1066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Thanks for reading</a:t>
            </a:r>
            <a:endParaRPr dirty="0"/>
          </a:p>
        </p:txBody>
      </p:sp>
      <p:sp>
        <p:nvSpPr>
          <p:cNvPr id="3" name="Google Shape;309;p18"/>
          <p:cNvSpPr txBox="1">
            <a:spLocks noGrp="1"/>
          </p:cNvSpPr>
          <p:nvPr>
            <p:ph type="subTitle" idx="1"/>
          </p:nvPr>
        </p:nvSpPr>
        <p:spPr>
          <a:xfrm>
            <a:off x="823999" y="1748725"/>
            <a:ext cx="7274971" cy="2543100"/>
          </a:xfrm>
          <a:prstGeom prst="rect">
            <a:avLst/>
          </a:prstGeom>
        </p:spPr>
        <p:txBody>
          <a:bodyPr spcFirstLastPara="1" wrap="square" lIns="91425" tIns="91425" rIns="91425" bIns="91425" anchor="t" anchorCtr="0">
            <a:normAutofit/>
          </a:bodyPr>
          <a:lstStyle/>
          <a:p>
            <a:pPr marL="127000" lvl="0" indent="0" algn="l" rtl="0">
              <a:spcBef>
                <a:spcPts val="0"/>
              </a:spcBef>
              <a:spcAft>
                <a:spcPts val="0"/>
              </a:spcAft>
              <a:buSzPts val="1600"/>
            </a:pPr>
            <a:endParaRPr dirty="0"/>
          </a:p>
        </p:txBody>
      </p:sp>
    </p:spTree>
    <p:extLst>
      <p:ext uri="{BB962C8B-B14F-4D97-AF65-F5344CB8AC3E}">
        <p14:creationId xmlns:p14="http://schemas.microsoft.com/office/powerpoint/2010/main" val="470759697"/>
      </p:ext>
    </p:extLst>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440</TotalTime>
  <Words>512</Words>
  <Application>Microsoft Office PowerPoint</Application>
  <PresentationFormat>On-screen Show (16:9)</PresentationFormat>
  <Paragraphs>98</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Maven Pro</vt:lpstr>
      <vt:lpstr>Montserrat</vt:lpstr>
      <vt:lpstr>Nunito</vt:lpstr>
      <vt:lpstr>Momentum</vt:lpstr>
      <vt:lpstr>Advanced Frontend Development React Hooks Task 5</vt:lpstr>
      <vt:lpstr>What is are Hooks?</vt:lpstr>
      <vt:lpstr>useState – Managing State</vt:lpstr>
      <vt:lpstr>useEffect – Side Effects (Lifecycle Control)</vt:lpstr>
      <vt:lpstr>useRef – Referencing DOM &amp; Persisting Values</vt:lpstr>
      <vt:lpstr>Custom Hooks – Reusable Logic</vt:lpstr>
      <vt:lpstr>Thanks for reading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Frontend Development ES6 Features Task 1</dc:title>
  <cp:lastModifiedBy>Abu-sufyan</cp:lastModifiedBy>
  <cp:revision>20</cp:revision>
  <dcterms:modified xsi:type="dcterms:W3CDTF">2025-10-13T07:57:21Z</dcterms:modified>
</cp:coreProperties>
</file>
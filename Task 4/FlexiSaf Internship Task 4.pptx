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64" r:id="rId5"/>
    <p:sldId id="259" r:id="rId6"/>
    <p:sldId id="260" r:id="rId7"/>
    <p:sldId id="263" r:id="rId8"/>
  </p:sldIdLst>
  <p:sldSz cx="9144000" cy="5143500" type="screen16x9"/>
  <p:notesSz cx="6858000" cy="9144000"/>
  <p:embeddedFontLst>
    <p:embeddedFont>
      <p:font typeface="Maven Pro" charset="0"/>
      <p:regular r:id="rId10"/>
      <p:bold r:id="rId11"/>
    </p:embeddedFont>
    <p:embeddedFont>
      <p:font typeface="Nunito" charset="0"/>
      <p:regular r:id="rId12"/>
      <p:bold r:id="rId13"/>
      <p:italic r:id="rId14"/>
      <p:boldItalic r:id="rId15"/>
    </p:embeddedFont>
    <p:embeddedFont>
      <p:font typeface="Montserrat"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2" d="100"/>
          <a:sy n="102" d="100"/>
        </p:scale>
        <p:origin x="-456" y="2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387887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e08b19311e0ba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e08b19311e0ba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5e08b19311e0ba5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5e08b19311e0ba5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5e08b19311e0ba5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5e08b19311e0ba5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5e08b19311e0ba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5e08b19311e0ba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lnSpcReduction="10000"/>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265568" y="1202350"/>
            <a:ext cx="8731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0" dirty="0">
                <a:latin typeface="Montserrat"/>
                <a:ea typeface="Montserrat"/>
                <a:cs typeface="Montserrat"/>
                <a:sym typeface="Montserrat"/>
              </a:rPr>
              <a:t>Advanced Frontend Development</a:t>
            </a:r>
            <a:endParaRPr b="0" dirty="0">
              <a:latin typeface="Montserrat"/>
              <a:ea typeface="Montserrat"/>
              <a:cs typeface="Montserrat"/>
              <a:sym typeface="Montserrat"/>
            </a:endParaRPr>
          </a:p>
          <a:p>
            <a:pPr marL="0" lvl="0" indent="0" algn="l" rtl="0">
              <a:spcBef>
                <a:spcPts val="0"/>
              </a:spcBef>
              <a:spcAft>
                <a:spcPts val="0"/>
              </a:spcAft>
              <a:buNone/>
            </a:pPr>
            <a:r>
              <a:rPr lang="en-US" b="0" dirty="0" err="1" smtClean="0">
                <a:latin typeface="Montserrat"/>
                <a:ea typeface="Montserrat"/>
                <a:cs typeface="Montserrat"/>
                <a:sym typeface="Montserrat"/>
              </a:rPr>
              <a:t>RESTful</a:t>
            </a:r>
            <a:r>
              <a:rPr lang="en-US" b="0" dirty="0" smtClean="0">
                <a:latin typeface="Montserrat"/>
                <a:ea typeface="Montserrat"/>
                <a:cs typeface="Montserrat"/>
                <a:sym typeface="Montserrat"/>
              </a:rPr>
              <a:t> API</a:t>
            </a:r>
            <a:endParaRPr b="0" dirty="0">
              <a:latin typeface="Montserrat"/>
              <a:ea typeface="Montserrat"/>
              <a:cs typeface="Montserrat"/>
              <a:sym typeface="Montserrat"/>
            </a:endParaRPr>
          </a:p>
          <a:p>
            <a:pPr marL="0" lvl="0" indent="0" algn="l" rtl="0">
              <a:spcBef>
                <a:spcPts val="0"/>
              </a:spcBef>
              <a:spcAft>
                <a:spcPts val="0"/>
              </a:spcAft>
              <a:buNone/>
            </a:pPr>
            <a:r>
              <a:rPr lang="en" b="0" dirty="0">
                <a:latin typeface="Montserrat"/>
                <a:ea typeface="Montserrat"/>
                <a:cs typeface="Montserrat"/>
                <a:sym typeface="Montserrat"/>
              </a:rPr>
              <a:t>Task </a:t>
            </a:r>
            <a:r>
              <a:rPr lang="en" b="0" dirty="0" smtClean="0">
                <a:latin typeface="Montserrat"/>
                <a:ea typeface="Montserrat"/>
                <a:cs typeface="Montserrat"/>
                <a:sym typeface="Montserrat"/>
              </a:rPr>
              <a:t>4</a:t>
            </a:r>
            <a:endParaRPr b="0" dirty="0">
              <a:latin typeface="Montserrat"/>
              <a:ea typeface="Montserrat"/>
              <a:cs typeface="Montserrat"/>
              <a:sym typeface="Montserrat"/>
            </a:endParaRPr>
          </a:p>
        </p:txBody>
      </p:sp>
      <p:sp>
        <p:nvSpPr>
          <p:cNvPr id="278" name="Google Shape;278;p13"/>
          <p:cNvSpPr txBox="1">
            <a:spLocks noGrp="1"/>
          </p:cNvSpPr>
          <p:nvPr>
            <p:ph type="subTitle" idx="1"/>
          </p:nvPr>
        </p:nvSpPr>
        <p:spPr>
          <a:xfrm>
            <a:off x="427200" y="3075250"/>
            <a:ext cx="4255500" cy="141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Montserrat"/>
                <a:ea typeface="Montserrat"/>
                <a:cs typeface="Montserrat"/>
                <a:sym typeface="Montserrat"/>
              </a:rPr>
              <a:t>Compiled by Yusuf Abu-safyan</a:t>
            </a:r>
            <a:endParaRPr>
              <a:latin typeface="Montserrat"/>
              <a:ea typeface="Montserrat"/>
              <a:cs typeface="Montserrat"/>
              <a:sym typeface="Montserrat"/>
            </a:endParaRPr>
          </a:p>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0"/>
              </a:spcBef>
              <a:spcAft>
                <a:spcPts val="0"/>
              </a:spcAft>
              <a:buNone/>
            </a:pPr>
            <a:r>
              <a:rPr lang="en">
                <a:latin typeface="Montserrat"/>
                <a:ea typeface="Montserrat"/>
                <a:cs typeface="Montserrat"/>
                <a:sym typeface="Montserrat"/>
              </a:rPr>
              <a:t>https://github.com/Sufyan-codes/FlexiSaf-Internship.git</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471299" y="323300"/>
            <a:ext cx="3718146" cy="808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What is </a:t>
            </a:r>
            <a:r>
              <a:rPr lang="en" dirty="0" smtClean="0"/>
              <a:t>an API</a:t>
            </a:r>
            <a:r>
              <a:rPr lang="en" dirty="0" smtClean="0"/>
              <a:t>?</a:t>
            </a:r>
            <a:endParaRPr dirty="0"/>
          </a:p>
        </p:txBody>
      </p:sp>
      <p:sp>
        <p:nvSpPr>
          <p:cNvPr id="284" name="Google Shape;284;p14"/>
          <p:cNvSpPr txBox="1"/>
          <p:nvPr/>
        </p:nvSpPr>
        <p:spPr>
          <a:xfrm>
            <a:off x="558450" y="1131500"/>
            <a:ext cx="8009100" cy="3468000"/>
          </a:xfrm>
          <a:prstGeom prst="rect">
            <a:avLst/>
          </a:prstGeom>
          <a:noFill/>
          <a:ln>
            <a:noFill/>
          </a:ln>
        </p:spPr>
        <p:txBody>
          <a:bodyPr spcFirstLastPara="1" wrap="square" lIns="91425" tIns="91425" rIns="91425" bIns="91425" anchor="t" anchorCtr="0">
            <a:noAutofit/>
          </a:bodyPr>
          <a:lstStyle/>
          <a:p>
            <a:pPr lvl="0"/>
            <a:r>
              <a:rPr lang="en-US" sz="1600" dirty="0">
                <a:solidFill>
                  <a:schemeClr val="bg1"/>
                </a:solidFill>
              </a:rPr>
              <a:t>An API, or Application Programming Interface, is a set of rules and protocols that allows different software applications to communicate and interact with each other. It acts as an intermediary, enabling one application to request services or data from another and receive a response. </a:t>
            </a:r>
            <a:endParaRPr sz="1600" dirty="0">
              <a:solidFill>
                <a:schemeClr val="bg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618727" y="444623"/>
            <a:ext cx="5586130" cy="695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smtClean="0"/>
              <a:t>What is a RRSTful API?</a:t>
            </a:r>
            <a:endParaRPr dirty="0"/>
          </a:p>
        </p:txBody>
      </p:sp>
      <p:sp>
        <p:nvSpPr>
          <p:cNvPr id="290" name="Google Shape;290;p15"/>
          <p:cNvSpPr txBox="1">
            <a:spLocks noGrp="1"/>
          </p:cNvSpPr>
          <p:nvPr>
            <p:ph type="subTitle" idx="1"/>
          </p:nvPr>
        </p:nvSpPr>
        <p:spPr>
          <a:xfrm>
            <a:off x="551789" y="1239815"/>
            <a:ext cx="7601100" cy="3595800"/>
          </a:xfrm>
          <a:prstGeom prst="rect">
            <a:avLst/>
          </a:prstGeom>
        </p:spPr>
        <p:txBody>
          <a:bodyPr spcFirstLastPara="1" wrap="square" lIns="91425" tIns="91425" rIns="91425" bIns="91425" anchor="t" anchorCtr="0">
            <a:normAutofit/>
          </a:bodyPr>
          <a:lstStyle/>
          <a:p>
            <a:pPr marL="0" lvl="0" indent="0"/>
            <a:r>
              <a:rPr lang="en-US" dirty="0"/>
              <a:t>A </a:t>
            </a:r>
            <a:r>
              <a:rPr lang="en-US" dirty="0" err="1"/>
              <a:t>RESTful</a:t>
            </a:r>
            <a:r>
              <a:rPr lang="en-US" dirty="0"/>
              <a:t> API, or Representational State Transfer API, is </a:t>
            </a:r>
            <a:r>
              <a:rPr lang="en-US" dirty="0"/>
              <a:t>a standard for building web services that are lightweight, scalable, and easy to use</a:t>
            </a:r>
            <a:r>
              <a:rPr lang="en-US" dirty="0"/>
              <a:t>. It uses standard HTTP requests to allow different software systems to communicate and exchange data. REST APIs are a popular choice for web, mobile, and </a:t>
            </a:r>
            <a:r>
              <a:rPr lang="en-US" dirty="0" err="1"/>
              <a:t>microservices</a:t>
            </a:r>
            <a:r>
              <a:rPr lang="en-US" dirty="0"/>
              <a:t> architectures. </a:t>
            </a:r>
            <a:endParaRPr lang="en-US"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824000" y="453954"/>
            <a:ext cx="4255500" cy="695400"/>
          </a:xfrm>
          <a:prstGeom prst="rect">
            <a:avLst/>
          </a:prstGeom>
        </p:spPr>
        <p:txBody>
          <a:bodyPr spcFirstLastPara="1" wrap="square" lIns="91425" tIns="91425" rIns="91425" bIns="91425" anchor="ctr" anchorCtr="0">
            <a:normAutofit fontScale="90000"/>
          </a:bodyPr>
          <a:lstStyle/>
          <a:p>
            <a:pPr lvl="0"/>
            <a:r>
              <a:rPr lang="en-US" dirty="0"/>
              <a:t>HTTP Methods:</a:t>
            </a:r>
            <a:endParaRPr dirty="0"/>
          </a:p>
        </p:txBody>
      </p:sp>
      <p:sp>
        <p:nvSpPr>
          <p:cNvPr id="290" name="Google Shape;290;p15"/>
          <p:cNvSpPr txBox="1">
            <a:spLocks noGrp="1"/>
          </p:cNvSpPr>
          <p:nvPr>
            <p:ph type="subTitle" idx="1"/>
          </p:nvPr>
        </p:nvSpPr>
        <p:spPr>
          <a:xfrm>
            <a:off x="570450" y="1547725"/>
            <a:ext cx="7601100" cy="3595800"/>
          </a:xfrm>
          <a:prstGeom prst="rect">
            <a:avLst/>
          </a:prstGeom>
        </p:spPr>
        <p:txBody>
          <a:bodyPr spcFirstLastPara="1" wrap="square" lIns="91425" tIns="91425" rIns="91425" bIns="91425" anchor="t" anchorCtr="0">
            <a:normAutofit/>
          </a:bodyPr>
          <a:lstStyle/>
          <a:p>
            <a:pPr algn="just"/>
            <a:r>
              <a:rPr lang="en-US" dirty="0" smtClean="0"/>
              <a:t>REST </a:t>
            </a:r>
            <a:r>
              <a:rPr lang="en-US" dirty="0"/>
              <a:t>APIs use standard HTTP methods, sometimes called "verbs," to </a:t>
            </a:r>
            <a:r>
              <a:rPr lang="en-US" dirty="0" smtClean="0"/>
              <a:t>perform actions </a:t>
            </a:r>
            <a:r>
              <a:rPr lang="en-US" dirty="0"/>
              <a:t>on resources. These methods correspond to the basic Create, Read, Update, and Delete (CRUD) operations:</a:t>
            </a:r>
          </a:p>
          <a:p>
            <a:pPr lvl="1" algn="just"/>
            <a:r>
              <a:rPr lang="en-US" b="1" dirty="0"/>
              <a:t>GET</a:t>
            </a:r>
            <a:r>
              <a:rPr lang="en-US" dirty="0"/>
              <a:t>: Retrieves a resource or a collection of resources.</a:t>
            </a:r>
          </a:p>
          <a:p>
            <a:pPr lvl="1" algn="just"/>
            <a:r>
              <a:rPr lang="en-US" b="1" dirty="0"/>
              <a:t>POST</a:t>
            </a:r>
            <a:r>
              <a:rPr lang="en-US" dirty="0"/>
              <a:t>: Creates a new resource.</a:t>
            </a:r>
          </a:p>
          <a:p>
            <a:pPr lvl="1" algn="just"/>
            <a:r>
              <a:rPr lang="en-US" b="1" dirty="0"/>
              <a:t>PUT</a:t>
            </a:r>
            <a:r>
              <a:rPr lang="en-US" dirty="0"/>
              <a:t>: Replaces an existing resource with new data.</a:t>
            </a:r>
          </a:p>
          <a:p>
            <a:pPr lvl="1" algn="just"/>
            <a:r>
              <a:rPr lang="en-US" b="1" dirty="0"/>
              <a:t>PATCH</a:t>
            </a:r>
            <a:r>
              <a:rPr lang="en-US" dirty="0"/>
              <a:t>: Performs a partial update on a resource.</a:t>
            </a:r>
          </a:p>
          <a:p>
            <a:pPr lvl="1" algn="just"/>
            <a:r>
              <a:rPr lang="en-US" b="1" dirty="0"/>
              <a:t>DELETE</a:t>
            </a:r>
            <a:r>
              <a:rPr lang="en-US" dirty="0"/>
              <a:t>: Removes a resource.</a:t>
            </a:r>
          </a:p>
        </p:txBody>
      </p:sp>
    </p:spTree>
    <p:extLst>
      <p:ext uri="{BB962C8B-B14F-4D97-AF65-F5344CB8AC3E}">
        <p14:creationId xmlns:p14="http://schemas.microsoft.com/office/powerpoint/2010/main" val="152020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823999" y="352700"/>
            <a:ext cx="4914327" cy="1043400"/>
          </a:xfrm>
          <a:prstGeom prst="rect">
            <a:avLst/>
          </a:prstGeom>
        </p:spPr>
        <p:txBody>
          <a:bodyPr spcFirstLastPara="1" wrap="square" lIns="91425" tIns="91425" rIns="91425" bIns="91425" anchor="ctr" anchorCtr="0">
            <a:normAutofit fontScale="90000"/>
          </a:bodyPr>
          <a:lstStyle/>
          <a:p>
            <a:r>
              <a:rPr lang="en-US" dirty="0"/>
              <a:t>Core principles of REST</a:t>
            </a:r>
            <a:endParaRPr lang="en-US" dirty="0"/>
          </a:p>
        </p:txBody>
      </p:sp>
      <p:sp>
        <p:nvSpPr>
          <p:cNvPr id="296" name="Google Shape;296;p16"/>
          <p:cNvSpPr txBox="1">
            <a:spLocks noGrp="1"/>
          </p:cNvSpPr>
          <p:nvPr>
            <p:ph type="subTitle" idx="1"/>
          </p:nvPr>
        </p:nvSpPr>
        <p:spPr>
          <a:xfrm>
            <a:off x="824000" y="1637375"/>
            <a:ext cx="7508400" cy="2580600"/>
          </a:xfrm>
          <a:prstGeom prst="rect">
            <a:avLst/>
          </a:prstGeom>
        </p:spPr>
        <p:txBody>
          <a:bodyPr spcFirstLastPara="1" wrap="square" lIns="91425" tIns="91425" rIns="91425" bIns="91425" anchor="t" anchorCtr="0">
            <a:normAutofit fontScale="77500" lnSpcReduction="20000"/>
          </a:bodyPr>
          <a:lstStyle/>
          <a:p>
            <a:r>
              <a:rPr lang="en-US" dirty="0" smtClean="0"/>
              <a:t>For </a:t>
            </a:r>
            <a:r>
              <a:rPr lang="en-US" dirty="0"/>
              <a:t>an API to be considered truly "</a:t>
            </a:r>
            <a:r>
              <a:rPr lang="en-US" dirty="0" err="1"/>
              <a:t>RESTful</a:t>
            </a:r>
            <a:r>
              <a:rPr lang="en-US" dirty="0"/>
              <a:t>," it should adhere to a set of architectural constraints: </a:t>
            </a:r>
          </a:p>
          <a:p>
            <a:r>
              <a:rPr lang="en-US" b="1" dirty="0"/>
              <a:t>Client-Server</a:t>
            </a:r>
            <a:r>
              <a:rPr lang="en-US" dirty="0"/>
              <a:t>: The client (e.g., a web browser or mobile app) and the server are separate and can evolve independently of one another.</a:t>
            </a:r>
          </a:p>
          <a:p>
            <a:r>
              <a:rPr lang="en-US" b="1" dirty="0"/>
              <a:t>Stateless</a:t>
            </a:r>
            <a:r>
              <a:rPr lang="en-US" dirty="0"/>
              <a:t>: Each request from a client to a server must contain all the information the server needs to understand and process the request. The server does not store any session state between requests, which improves scalability and reliability.</a:t>
            </a:r>
          </a:p>
          <a:p>
            <a:r>
              <a:rPr lang="en-US" b="1" dirty="0"/>
              <a:t>Cacheable</a:t>
            </a:r>
            <a:r>
              <a:rPr lang="en-US" dirty="0"/>
              <a:t>: Responses from the server can be designated as cacheable or non-cacheable to improve performance. For example, data that does not change often, like a user's profile, can be cached by the client to reduce the need for repeat requests.</a:t>
            </a:r>
          </a:p>
          <a:p>
            <a:r>
              <a:rPr lang="en-US" b="1" dirty="0"/>
              <a:t>Uniform Interface</a:t>
            </a:r>
            <a:r>
              <a:rPr lang="en-US" dirty="0"/>
              <a:t>: A consistent, standardized way of interacting with the resources, such as using resource-based URLs and standard HTTP methods, simplifies the </a:t>
            </a:r>
            <a:r>
              <a:rPr lang="en-US" dirty="0" smtClean="0"/>
              <a:t>o</a:t>
            </a:r>
            <a:r>
              <a:rPr lang="en-US" dirty="0"/>
              <a:t> </a:t>
            </a:r>
            <a:r>
              <a:rPr lang="en-US" dirty="0" err="1"/>
              <a:t>verall</a:t>
            </a:r>
            <a:r>
              <a:rPr lang="en-US" dirty="0"/>
              <a:t> system.</a:t>
            </a:r>
          </a:p>
          <a:p>
            <a:r>
              <a:rPr lang="en-US" b="1" dirty="0"/>
              <a:t>Layered System</a:t>
            </a:r>
            <a:r>
              <a:rPr lang="en-US" dirty="0"/>
              <a:t>: The client doesn't need to know if it is communicating with the end server or an intermediary layer, such as a proxy or a load balancer. This allows for improved security and scalability.</a:t>
            </a:r>
          </a:p>
          <a:p>
            <a:r>
              <a:rPr lang="en-US" b="1" dirty="0"/>
              <a:t>Code on Demand (Optional)</a:t>
            </a:r>
            <a:r>
              <a:rPr lang="en-US" dirty="0"/>
              <a:t>: In some cases, the server can extend client functionality by sending executable code, like a script, to the client.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824000" y="-12"/>
            <a:ext cx="7256310" cy="1872900"/>
          </a:xfrm>
          <a:prstGeom prst="rect">
            <a:avLst/>
          </a:prstGeom>
        </p:spPr>
        <p:txBody>
          <a:bodyPr spcFirstLastPara="1" wrap="square" lIns="91425" tIns="91425" rIns="91425" bIns="91425" anchor="ctr" anchorCtr="0">
            <a:normAutofit/>
          </a:bodyPr>
          <a:lstStyle/>
          <a:p>
            <a:r>
              <a:rPr lang="en-US" dirty="0"/>
              <a:t>Benefits of using </a:t>
            </a:r>
            <a:r>
              <a:rPr lang="en-US" dirty="0" err="1"/>
              <a:t>RESTful</a:t>
            </a:r>
            <a:r>
              <a:rPr lang="en-US" dirty="0"/>
              <a:t> APIs</a:t>
            </a:r>
            <a:endParaRPr lang="en-US" dirty="0"/>
          </a:p>
        </p:txBody>
      </p:sp>
      <p:sp>
        <p:nvSpPr>
          <p:cNvPr id="303" name="Google Shape;303;p17"/>
          <p:cNvSpPr txBox="1">
            <a:spLocks noGrp="1"/>
          </p:cNvSpPr>
          <p:nvPr>
            <p:ph type="subTitle" idx="1"/>
          </p:nvPr>
        </p:nvSpPr>
        <p:spPr>
          <a:xfrm>
            <a:off x="824000" y="1513649"/>
            <a:ext cx="7728900" cy="3403583"/>
          </a:xfrm>
          <a:prstGeom prst="rect">
            <a:avLst/>
          </a:prstGeom>
        </p:spPr>
        <p:txBody>
          <a:bodyPr spcFirstLastPara="1" wrap="square" lIns="91425" tIns="91425" rIns="91425" bIns="91425" anchor="t" anchorCtr="0">
            <a:normAutofit/>
          </a:bodyPr>
          <a:lstStyle/>
          <a:p>
            <a:r>
              <a:rPr lang="en-US" b="1" dirty="0" smtClean="0"/>
              <a:t>Scalability</a:t>
            </a:r>
            <a:r>
              <a:rPr lang="en-US" dirty="0"/>
              <a:t>: The stateless nature of REST makes it easy to scale systems horizontally by adding more servers without having to worry about session state.</a:t>
            </a:r>
          </a:p>
          <a:p>
            <a:r>
              <a:rPr lang="en-US" b="1" dirty="0"/>
              <a:t>Flexibility and Portability</a:t>
            </a:r>
            <a:r>
              <a:rPr lang="en-US" dirty="0"/>
              <a:t>: The separation of the client and server means they can be developed and updated independently using different technologies.</a:t>
            </a:r>
          </a:p>
          <a:p>
            <a:r>
              <a:rPr lang="en-US" b="1" dirty="0"/>
              <a:t>Simplicity</a:t>
            </a:r>
            <a:r>
              <a:rPr lang="en-US" dirty="0"/>
              <a:t>: REST uses standard web technologies and protocols that are widely understood by developers, making it easier to design and implement.</a:t>
            </a:r>
          </a:p>
          <a:p>
            <a:r>
              <a:rPr lang="en-US" b="1" dirty="0"/>
              <a:t>Security</a:t>
            </a:r>
            <a:r>
              <a:rPr lang="en-US" dirty="0"/>
              <a:t>: REST APIs can use standard security protocols like HTTPS and </a:t>
            </a:r>
            <a:r>
              <a:rPr lang="en-US" dirty="0" err="1"/>
              <a:t>OAuth</a:t>
            </a:r>
            <a:r>
              <a:rPr lang="en-US" dirty="0"/>
              <a:t> for authentication and authorization.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13"/>
        <p:cNvGrpSpPr/>
        <p:nvPr/>
      </p:nvGrpSpPr>
      <p:grpSpPr>
        <a:xfrm>
          <a:off x="0" y="0"/>
          <a:ext cx="0" cy="0"/>
          <a:chOff x="0" y="0"/>
          <a:chExt cx="0" cy="0"/>
        </a:xfrm>
      </p:grpSpPr>
      <p:sp>
        <p:nvSpPr>
          <p:cNvPr id="314" name="Google Shape;314;p19"/>
          <p:cNvSpPr txBox="1">
            <a:spLocks noGrp="1"/>
          </p:cNvSpPr>
          <p:nvPr>
            <p:ph type="ctrTitle"/>
          </p:nvPr>
        </p:nvSpPr>
        <p:spPr>
          <a:xfrm>
            <a:off x="803945" y="708584"/>
            <a:ext cx="4822414" cy="1066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Thanks for reading</a:t>
            </a:r>
            <a:endParaRPr dirty="0"/>
          </a:p>
        </p:txBody>
      </p:sp>
      <p:sp>
        <p:nvSpPr>
          <p:cNvPr id="3" name="Google Shape;309;p18"/>
          <p:cNvSpPr txBox="1">
            <a:spLocks noGrp="1"/>
          </p:cNvSpPr>
          <p:nvPr>
            <p:ph type="subTitle" idx="1"/>
          </p:nvPr>
        </p:nvSpPr>
        <p:spPr>
          <a:xfrm>
            <a:off x="823999" y="1748725"/>
            <a:ext cx="7274971" cy="2543100"/>
          </a:xfrm>
          <a:prstGeom prst="rect">
            <a:avLst/>
          </a:prstGeom>
        </p:spPr>
        <p:txBody>
          <a:bodyPr spcFirstLastPara="1" wrap="square" lIns="91425" tIns="91425" rIns="91425" bIns="91425" anchor="t" anchorCtr="0">
            <a:normAutofit/>
          </a:bodyPr>
          <a:lstStyle/>
          <a:p>
            <a:pPr marL="127000" lvl="0" indent="0" algn="l" rtl="0">
              <a:spcBef>
                <a:spcPts val="0"/>
              </a:spcBef>
              <a:spcAft>
                <a:spcPts val="0"/>
              </a:spcAft>
              <a:buSzPts val="1600"/>
            </a:pPr>
            <a:endParaRPr dirty="0"/>
          </a:p>
        </p:txBody>
      </p:sp>
    </p:spTree>
    <p:extLst>
      <p:ext uri="{BB962C8B-B14F-4D97-AF65-F5344CB8AC3E}">
        <p14:creationId xmlns:p14="http://schemas.microsoft.com/office/powerpoint/2010/main" val="470759697"/>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425</TotalTime>
  <Words>271</Words>
  <Application>Microsoft Office PowerPoint</Application>
  <PresentationFormat>On-screen Show (16:9)</PresentationFormat>
  <Paragraphs>31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Maven Pro</vt:lpstr>
      <vt:lpstr>Nunito</vt:lpstr>
      <vt:lpstr>Montserrat</vt:lpstr>
      <vt:lpstr>Momentum</vt:lpstr>
      <vt:lpstr>Advanced Frontend Development RESTful API Task 4</vt:lpstr>
      <vt:lpstr>What is an API?</vt:lpstr>
      <vt:lpstr>What is a RRSTful API?</vt:lpstr>
      <vt:lpstr>HTTP Methods:</vt:lpstr>
      <vt:lpstr>Core principles of REST</vt:lpstr>
      <vt:lpstr>Benefits of using RESTful APIs</vt:lpstr>
      <vt:lpstr>Thanks for reading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Frontend Development ES6 Features Task 1</dc:title>
  <cp:lastModifiedBy>Abu-sufyan</cp:lastModifiedBy>
  <cp:revision>18</cp:revision>
  <dcterms:modified xsi:type="dcterms:W3CDTF">2025-10-06T07:54:51Z</dcterms:modified>
</cp:coreProperties>
</file>
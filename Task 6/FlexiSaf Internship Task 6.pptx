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9"/>
  </p:notesMasterIdLst>
  <p:sldIdLst>
    <p:sldId id="256" r:id="rId2"/>
    <p:sldId id="257" r:id="rId3"/>
    <p:sldId id="258" r:id="rId4"/>
    <p:sldId id="264" r:id="rId5"/>
    <p:sldId id="259" r:id="rId6"/>
    <p:sldId id="260" r:id="rId7"/>
    <p:sldId id="263" r:id="rId8"/>
  </p:sldIdLst>
  <p:sldSz cx="9144000" cy="5143500" type="screen16x9"/>
  <p:notesSz cx="6858000" cy="9144000"/>
  <p:embeddedFontLst>
    <p:embeddedFont>
      <p:font typeface="Maven Pro" charset="0"/>
      <p:regular r:id="rId10"/>
      <p:bold r:id="rId11"/>
    </p:embeddedFont>
    <p:embeddedFont>
      <p:font typeface="Nunito" charset="0"/>
      <p:regular r:id="rId12"/>
      <p:bold r:id="rId13"/>
      <p:italic r:id="rId14"/>
      <p:boldItalic r:id="rId15"/>
    </p:embeddedFont>
    <p:embeddedFont>
      <p:font typeface="Montserrat"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2" d="100"/>
          <a:sy n="102" d="100"/>
        </p:scale>
        <p:origin x="-456"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tableStyles" Target="tableStyle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73878873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15e08b19311e0ba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15e08b19311e0ba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15e08b19311e0ba5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15e08b19311e0ba5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15e08b19311e0ba5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15e08b19311e0ba5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5e08b19311e0ba5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5e08b19311e0ba5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15e08b19311e0ba5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15e08b19311e0ba5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15e08b19311e0ba5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15e08b19311e0ba5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0"/>
              </a:spcBef>
              <a:spcAft>
                <a:spcPts val="0"/>
              </a:spcAft>
              <a:buClr>
                <a:schemeClr val="lt1"/>
              </a:buClr>
              <a:buSzPts val="1100"/>
              <a:buChar char="○"/>
              <a:defRPr>
                <a:solidFill>
                  <a:schemeClr val="lt1"/>
                </a:solidFill>
              </a:defRPr>
            </a:lvl2pPr>
            <a:lvl3pPr marL="1371600" lvl="2" indent="-298450" algn="ctr">
              <a:spcBef>
                <a:spcPts val="0"/>
              </a:spcBef>
              <a:spcAft>
                <a:spcPts val="0"/>
              </a:spcAft>
              <a:buClr>
                <a:schemeClr val="lt1"/>
              </a:buClr>
              <a:buSzPts val="1100"/>
              <a:buChar char="■"/>
              <a:defRPr>
                <a:solidFill>
                  <a:schemeClr val="lt1"/>
                </a:solidFill>
              </a:defRPr>
            </a:lvl3pPr>
            <a:lvl4pPr marL="1828800" lvl="3" indent="-298450" algn="ctr">
              <a:spcBef>
                <a:spcPts val="0"/>
              </a:spcBef>
              <a:spcAft>
                <a:spcPts val="0"/>
              </a:spcAft>
              <a:buClr>
                <a:schemeClr val="lt1"/>
              </a:buClr>
              <a:buSzPts val="1100"/>
              <a:buChar char="●"/>
              <a:defRPr>
                <a:solidFill>
                  <a:schemeClr val="lt1"/>
                </a:solidFill>
              </a:defRPr>
            </a:lvl4pPr>
            <a:lvl5pPr marL="2286000" lvl="4" indent="-298450" algn="ctr">
              <a:spcBef>
                <a:spcPts val="0"/>
              </a:spcBef>
              <a:spcAft>
                <a:spcPts val="0"/>
              </a:spcAft>
              <a:buClr>
                <a:schemeClr val="lt1"/>
              </a:buClr>
              <a:buSzPts val="1100"/>
              <a:buChar char="○"/>
              <a:defRPr>
                <a:solidFill>
                  <a:schemeClr val="lt1"/>
                </a:solidFill>
              </a:defRPr>
            </a:lvl5pPr>
            <a:lvl6pPr marL="2743200" lvl="5" indent="-298450" algn="ctr">
              <a:spcBef>
                <a:spcPts val="0"/>
              </a:spcBef>
              <a:spcAft>
                <a:spcPts val="0"/>
              </a:spcAft>
              <a:buClr>
                <a:schemeClr val="lt1"/>
              </a:buClr>
              <a:buSzPts val="1100"/>
              <a:buChar char="■"/>
              <a:defRPr>
                <a:solidFill>
                  <a:schemeClr val="lt1"/>
                </a:solidFill>
              </a:defRPr>
            </a:lvl6pPr>
            <a:lvl7pPr marL="3200400" lvl="6" indent="-298450" algn="ctr">
              <a:spcBef>
                <a:spcPts val="0"/>
              </a:spcBef>
              <a:spcAft>
                <a:spcPts val="0"/>
              </a:spcAft>
              <a:buClr>
                <a:schemeClr val="lt1"/>
              </a:buClr>
              <a:buSzPts val="1100"/>
              <a:buChar char="●"/>
              <a:defRPr>
                <a:solidFill>
                  <a:schemeClr val="lt1"/>
                </a:solidFill>
              </a:defRPr>
            </a:lvl7pPr>
            <a:lvl8pPr marL="3657600" lvl="7" indent="-298450" algn="ctr">
              <a:spcBef>
                <a:spcPts val="0"/>
              </a:spcBef>
              <a:spcAft>
                <a:spcPts val="0"/>
              </a:spcAft>
              <a:buClr>
                <a:schemeClr val="lt1"/>
              </a:buClr>
              <a:buSzPts val="1100"/>
              <a:buChar char="○"/>
              <a:defRPr>
                <a:solidFill>
                  <a:schemeClr val="lt1"/>
                </a:solidFill>
              </a:defRPr>
            </a:lvl8pPr>
            <a:lvl9pPr marL="4114800" lvl="8" indent="-298450" algn="ctr">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lnSpcReduction="10000"/>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265568" y="1202350"/>
            <a:ext cx="8731500"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b="0" dirty="0">
                <a:latin typeface="Montserrat"/>
                <a:ea typeface="Montserrat"/>
                <a:cs typeface="Montserrat"/>
                <a:sym typeface="Montserrat"/>
              </a:rPr>
              <a:t>Advanced Frontend Development</a:t>
            </a:r>
            <a:endParaRPr b="0" dirty="0">
              <a:latin typeface="Montserrat"/>
              <a:ea typeface="Montserrat"/>
              <a:cs typeface="Montserrat"/>
              <a:sym typeface="Montserrat"/>
            </a:endParaRPr>
          </a:p>
          <a:p>
            <a:pPr marL="0" lvl="0" indent="0" algn="l" rtl="0">
              <a:spcBef>
                <a:spcPts val="0"/>
              </a:spcBef>
              <a:spcAft>
                <a:spcPts val="0"/>
              </a:spcAft>
              <a:buNone/>
            </a:pPr>
            <a:r>
              <a:rPr lang="en-US" b="0" dirty="0" err="1" smtClean="0">
                <a:latin typeface="Montserrat"/>
                <a:ea typeface="Montserrat"/>
                <a:cs typeface="Montserrat"/>
                <a:sym typeface="Montserrat"/>
              </a:rPr>
              <a:t>Asynchronos</a:t>
            </a:r>
            <a:r>
              <a:rPr lang="en-US" b="0" dirty="0" smtClean="0">
                <a:latin typeface="Montserrat"/>
                <a:ea typeface="Montserrat"/>
                <a:cs typeface="Montserrat"/>
                <a:sym typeface="Montserrat"/>
              </a:rPr>
              <a:t> React </a:t>
            </a:r>
            <a:r>
              <a:rPr lang="en" b="0" dirty="0" smtClean="0">
                <a:latin typeface="Montserrat"/>
                <a:ea typeface="Montserrat"/>
                <a:cs typeface="Montserrat"/>
                <a:sym typeface="Montserrat"/>
              </a:rPr>
              <a:t>Task 6</a:t>
            </a:r>
            <a:endParaRPr b="0" dirty="0">
              <a:latin typeface="Montserrat"/>
              <a:ea typeface="Montserrat"/>
              <a:cs typeface="Montserrat"/>
              <a:sym typeface="Montserrat"/>
            </a:endParaRPr>
          </a:p>
        </p:txBody>
      </p:sp>
      <p:sp>
        <p:nvSpPr>
          <p:cNvPr id="278" name="Google Shape;278;p13"/>
          <p:cNvSpPr txBox="1">
            <a:spLocks noGrp="1"/>
          </p:cNvSpPr>
          <p:nvPr>
            <p:ph type="subTitle" idx="1"/>
          </p:nvPr>
        </p:nvSpPr>
        <p:spPr>
          <a:xfrm>
            <a:off x="427200" y="3075250"/>
            <a:ext cx="4255500" cy="1416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latin typeface="Montserrat"/>
                <a:ea typeface="Montserrat"/>
                <a:cs typeface="Montserrat"/>
                <a:sym typeface="Montserrat"/>
              </a:rPr>
              <a:t>Compiled by Yusuf Abu-safyan</a:t>
            </a:r>
            <a:endParaRPr>
              <a:latin typeface="Montserrat"/>
              <a:ea typeface="Montserrat"/>
              <a:cs typeface="Montserrat"/>
              <a:sym typeface="Montserrat"/>
            </a:endParaRPr>
          </a:p>
          <a:p>
            <a:pPr marL="0" lvl="0" indent="0" algn="l" rtl="0">
              <a:spcBef>
                <a:spcPts val="0"/>
              </a:spcBef>
              <a:spcAft>
                <a:spcPts val="0"/>
              </a:spcAft>
              <a:buNone/>
            </a:pPr>
            <a:endParaRPr>
              <a:latin typeface="Montserrat"/>
              <a:ea typeface="Montserrat"/>
              <a:cs typeface="Montserrat"/>
              <a:sym typeface="Montserrat"/>
            </a:endParaRPr>
          </a:p>
          <a:p>
            <a:pPr marL="0" lvl="0" indent="0" algn="l" rtl="0">
              <a:spcBef>
                <a:spcPts val="0"/>
              </a:spcBef>
              <a:spcAft>
                <a:spcPts val="0"/>
              </a:spcAft>
              <a:buNone/>
            </a:pPr>
            <a:r>
              <a:rPr lang="en">
                <a:latin typeface="Montserrat"/>
                <a:ea typeface="Montserrat"/>
                <a:cs typeface="Montserrat"/>
                <a:sym typeface="Montserrat"/>
              </a:rPr>
              <a:t>https://github.com/Sufyan-codes/FlexiSaf-Internship.git</a:t>
            </a:r>
            <a:endParaRPr>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282"/>
        <p:cNvGrpSpPr/>
        <p:nvPr/>
      </p:nvGrpSpPr>
      <p:grpSpPr>
        <a:xfrm>
          <a:off x="0" y="0"/>
          <a:ext cx="0" cy="0"/>
          <a:chOff x="0" y="0"/>
          <a:chExt cx="0" cy="0"/>
        </a:xfrm>
      </p:grpSpPr>
      <p:sp>
        <p:nvSpPr>
          <p:cNvPr id="283" name="Google Shape;283;p14"/>
          <p:cNvSpPr txBox="1">
            <a:spLocks noGrp="1"/>
          </p:cNvSpPr>
          <p:nvPr>
            <p:ph type="ctrTitle"/>
          </p:nvPr>
        </p:nvSpPr>
        <p:spPr>
          <a:xfrm>
            <a:off x="471299" y="323300"/>
            <a:ext cx="6069460" cy="8082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dirty="0" smtClean="0"/>
              <a:t>What is </a:t>
            </a:r>
            <a:r>
              <a:rPr lang="en" dirty="0" smtClean="0"/>
              <a:t>Asyncronous React?</a:t>
            </a:r>
            <a:endParaRPr dirty="0"/>
          </a:p>
        </p:txBody>
      </p:sp>
      <p:sp>
        <p:nvSpPr>
          <p:cNvPr id="284" name="Google Shape;284;p14"/>
          <p:cNvSpPr txBox="1"/>
          <p:nvPr/>
        </p:nvSpPr>
        <p:spPr>
          <a:xfrm>
            <a:off x="558450" y="1131500"/>
            <a:ext cx="8009100" cy="3468000"/>
          </a:xfrm>
          <a:prstGeom prst="rect">
            <a:avLst/>
          </a:prstGeom>
          <a:noFill/>
          <a:ln>
            <a:noFill/>
          </a:ln>
        </p:spPr>
        <p:txBody>
          <a:bodyPr spcFirstLastPara="1" wrap="square" lIns="91425" tIns="91425" rIns="91425" bIns="91425" anchor="t" anchorCtr="0">
            <a:noAutofit/>
          </a:bodyPr>
          <a:lstStyle/>
          <a:p>
            <a:pPr lvl="0"/>
            <a:r>
              <a:rPr lang="en-US" sz="1800" dirty="0">
                <a:solidFill>
                  <a:schemeClr val="bg1"/>
                </a:solidFill>
              </a:rPr>
              <a:t>Asynchronous React refers to techniques and features in React that enable non-blocking operations, particularly for tasks that involve waiting for external resources like data fetching from an API. This allows the user interface to remain responsive while these potentially long-running tasks are in progress</a:t>
            </a:r>
            <a:endParaRPr sz="1800" dirty="0">
              <a:solidFill>
                <a:schemeClr val="bg1"/>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288"/>
        <p:cNvGrpSpPr/>
        <p:nvPr/>
      </p:nvGrpSpPr>
      <p:grpSpPr>
        <a:xfrm>
          <a:off x="0" y="0"/>
          <a:ext cx="0" cy="0"/>
          <a:chOff x="0" y="0"/>
          <a:chExt cx="0" cy="0"/>
        </a:xfrm>
      </p:grpSpPr>
      <p:sp>
        <p:nvSpPr>
          <p:cNvPr id="289" name="Google Shape;289;p15"/>
          <p:cNvSpPr txBox="1">
            <a:spLocks noGrp="1"/>
          </p:cNvSpPr>
          <p:nvPr>
            <p:ph type="ctrTitle"/>
          </p:nvPr>
        </p:nvSpPr>
        <p:spPr>
          <a:xfrm>
            <a:off x="618727" y="444623"/>
            <a:ext cx="5586130" cy="695400"/>
          </a:xfrm>
          <a:prstGeom prst="rect">
            <a:avLst/>
          </a:prstGeom>
        </p:spPr>
        <p:txBody>
          <a:bodyPr spcFirstLastPara="1" wrap="square" lIns="91425" tIns="91425" rIns="91425" bIns="91425" anchor="ctr" anchorCtr="0">
            <a:normAutofit fontScale="90000"/>
          </a:bodyPr>
          <a:lstStyle/>
          <a:p>
            <a:pPr lvl="0"/>
            <a:r>
              <a:rPr lang="en-US" dirty="0" smtClean="0"/>
              <a:t>JSON</a:t>
            </a:r>
            <a:endParaRPr dirty="0"/>
          </a:p>
        </p:txBody>
      </p:sp>
      <p:sp>
        <p:nvSpPr>
          <p:cNvPr id="290" name="Google Shape;290;p15"/>
          <p:cNvSpPr txBox="1">
            <a:spLocks noGrp="1"/>
          </p:cNvSpPr>
          <p:nvPr>
            <p:ph type="subTitle" idx="1"/>
          </p:nvPr>
        </p:nvSpPr>
        <p:spPr>
          <a:xfrm>
            <a:off x="551789" y="1239815"/>
            <a:ext cx="7601100" cy="3595800"/>
          </a:xfrm>
          <a:prstGeom prst="rect">
            <a:avLst/>
          </a:prstGeom>
        </p:spPr>
        <p:txBody>
          <a:bodyPr spcFirstLastPara="1" wrap="square" lIns="91425" tIns="91425" rIns="91425" bIns="91425" anchor="t" anchorCtr="0">
            <a:normAutofit/>
          </a:bodyPr>
          <a:lstStyle/>
          <a:p>
            <a:pPr marL="0" lvl="0" indent="0"/>
            <a:r>
              <a:rPr lang="en-US" dirty="0"/>
              <a:t>JSON (JavaScript Object Notation) is a lightweight data-interchange format commonly used in React applications for handling and displaying data. </a:t>
            </a:r>
            <a:r>
              <a:rPr lang="en-US" dirty="0" err="1"/>
              <a:t>React's</a:t>
            </a:r>
            <a:r>
              <a:rPr lang="en-US" dirty="0"/>
              <a:t> component-based architecture and JavaScript foundation make it well-suited for working with JSON</a:t>
            </a:r>
            <a:r>
              <a:rPr lang="en-US" dirty="0" smtClean="0"/>
              <a:t>.</a:t>
            </a:r>
          </a:p>
          <a:p>
            <a:pPr marL="0" lvl="0" indent="0"/>
            <a:endParaRPr lang="en-US" dirty="0">
              <a:latin typeface="Montserrat"/>
              <a:ea typeface="Montserrat"/>
              <a:cs typeface="Montserrat"/>
              <a:sym typeface="Montserrat"/>
            </a:endParaRPr>
          </a:p>
          <a:p>
            <a:pPr marL="0" lvl="0" indent="0"/>
            <a:r>
              <a:rPr lang="en-US" dirty="0">
                <a:latin typeface="Montserrat"/>
                <a:ea typeface="Montserrat"/>
                <a:cs typeface="Montserrat"/>
                <a:sym typeface="Montserrat"/>
              </a:rPr>
              <a:t> // </a:t>
            </a:r>
            <a:r>
              <a:rPr lang="en-US" dirty="0" err="1">
                <a:latin typeface="Montserrat"/>
                <a:ea typeface="Montserrat"/>
                <a:cs typeface="Montserrat"/>
                <a:sym typeface="Montserrat"/>
              </a:rPr>
              <a:t>data.json</a:t>
            </a:r>
            <a:r>
              <a:rPr lang="en-US" dirty="0">
                <a:latin typeface="Montserrat"/>
                <a:ea typeface="Montserrat"/>
                <a:cs typeface="Montserrat"/>
                <a:sym typeface="Montserrat"/>
              </a:rPr>
              <a:t>   </a:t>
            </a:r>
            <a:endParaRPr lang="en-US" dirty="0" smtClean="0">
              <a:latin typeface="Montserrat"/>
              <a:ea typeface="Montserrat"/>
              <a:cs typeface="Montserrat"/>
              <a:sym typeface="Montserrat"/>
            </a:endParaRPr>
          </a:p>
          <a:p>
            <a:pPr marL="0" lvl="0" indent="0"/>
            <a:r>
              <a:rPr lang="en-US" dirty="0" smtClean="0">
                <a:latin typeface="Montserrat"/>
                <a:ea typeface="Montserrat"/>
                <a:cs typeface="Montserrat"/>
                <a:sym typeface="Montserrat"/>
              </a:rPr>
              <a:t> </a:t>
            </a:r>
            <a:r>
              <a:rPr lang="en-US" dirty="0">
                <a:latin typeface="Montserrat"/>
                <a:ea typeface="Montserrat"/>
                <a:cs typeface="Montserrat"/>
                <a:sym typeface="Montserrat"/>
              </a:rPr>
              <a:t>{      "users": [        { "id": 1, "name": "Alice" },        { "id": 2, "name": "Bob" }      ]   </a:t>
            </a:r>
            <a:r>
              <a:rPr lang="en-US" dirty="0" smtClean="0">
                <a:latin typeface="Montserrat"/>
                <a:ea typeface="Montserrat"/>
                <a:cs typeface="Montserrat"/>
                <a:sym typeface="Montserrat"/>
              </a:rPr>
              <a:t>}</a:t>
            </a:r>
            <a:endParaRPr lang="en-US" dirty="0">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288"/>
        <p:cNvGrpSpPr/>
        <p:nvPr/>
      </p:nvGrpSpPr>
      <p:grpSpPr>
        <a:xfrm>
          <a:off x="0" y="0"/>
          <a:ext cx="0" cy="0"/>
          <a:chOff x="0" y="0"/>
          <a:chExt cx="0" cy="0"/>
        </a:xfrm>
      </p:grpSpPr>
      <p:sp>
        <p:nvSpPr>
          <p:cNvPr id="289" name="Google Shape;289;p15"/>
          <p:cNvSpPr txBox="1">
            <a:spLocks noGrp="1"/>
          </p:cNvSpPr>
          <p:nvPr>
            <p:ph type="ctrTitle"/>
          </p:nvPr>
        </p:nvSpPr>
        <p:spPr>
          <a:xfrm>
            <a:off x="823998" y="453954"/>
            <a:ext cx="8320002" cy="695400"/>
          </a:xfrm>
          <a:prstGeom prst="rect">
            <a:avLst/>
          </a:prstGeom>
        </p:spPr>
        <p:txBody>
          <a:bodyPr spcFirstLastPara="1" wrap="square" lIns="91425" tIns="91425" rIns="91425" bIns="91425" anchor="ctr" anchorCtr="0">
            <a:normAutofit fontScale="90000"/>
          </a:bodyPr>
          <a:lstStyle/>
          <a:p>
            <a:pPr lvl="0"/>
            <a:r>
              <a:rPr lang="en-US" dirty="0" err="1" smtClean="0"/>
              <a:t>FormData</a:t>
            </a:r>
            <a:endParaRPr dirty="0"/>
          </a:p>
        </p:txBody>
      </p:sp>
      <p:sp>
        <p:nvSpPr>
          <p:cNvPr id="290" name="Google Shape;290;p15"/>
          <p:cNvSpPr txBox="1">
            <a:spLocks noGrp="1"/>
          </p:cNvSpPr>
          <p:nvPr>
            <p:ph type="subTitle" idx="1"/>
          </p:nvPr>
        </p:nvSpPr>
        <p:spPr>
          <a:xfrm>
            <a:off x="570450" y="1547725"/>
            <a:ext cx="7601100" cy="3595800"/>
          </a:xfrm>
          <a:prstGeom prst="rect">
            <a:avLst/>
          </a:prstGeom>
        </p:spPr>
        <p:txBody>
          <a:bodyPr spcFirstLastPara="1" wrap="square" lIns="91425" tIns="91425" rIns="91425" bIns="91425" anchor="t" anchorCtr="0">
            <a:normAutofit/>
          </a:bodyPr>
          <a:lstStyle/>
          <a:p>
            <a:pPr algn="just"/>
            <a:r>
              <a:rPr lang="en-US" dirty="0"/>
              <a:t>The </a:t>
            </a:r>
            <a:r>
              <a:rPr lang="en-US" dirty="0" err="1"/>
              <a:t>FormData</a:t>
            </a:r>
            <a:r>
              <a:rPr lang="en-US" dirty="0"/>
              <a:t> API, a standard JavaScript interface, provides a way to construct and manage key-value pairs representing form fields and their values in React applications. This approach is particularly useful for handling forms, especially when dealing with file uploads or when minimizing the use of controlled components and state management</a:t>
            </a:r>
            <a:r>
              <a:rPr lang="en-US" dirty="0" smtClean="0"/>
              <a:t>.</a:t>
            </a:r>
          </a:p>
          <a:p>
            <a:endParaRPr lang="en-US" dirty="0" smtClean="0"/>
          </a:p>
          <a:p>
            <a:r>
              <a:rPr lang="en-US" dirty="0" smtClean="0"/>
              <a:t>Using </a:t>
            </a:r>
            <a:r>
              <a:rPr lang="en-US" dirty="0" err="1"/>
              <a:t>FormData</a:t>
            </a:r>
            <a:r>
              <a:rPr lang="en-US" dirty="0"/>
              <a:t> in React:</a:t>
            </a:r>
          </a:p>
          <a:p>
            <a:r>
              <a:rPr lang="en-US" b="1" dirty="0"/>
              <a:t>Form Structure:</a:t>
            </a:r>
            <a:r>
              <a:rPr lang="en-US" dirty="0"/>
              <a:t> Create a standard HTML form in your React component. Ensure that input fields (e.g., &lt;input&gt;, &lt;</a:t>
            </a:r>
            <a:r>
              <a:rPr lang="en-US" dirty="0" err="1"/>
              <a:t>textarea</a:t>
            </a:r>
            <a:r>
              <a:rPr lang="en-US" dirty="0"/>
              <a:t>&gt;, &lt;select&gt;) have a name attribute, as </a:t>
            </a:r>
            <a:r>
              <a:rPr lang="en-US" dirty="0" err="1"/>
              <a:t>FormData</a:t>
            </a:r>
            <a:r>
              <a:rPr lang="en-US" dirty="0"/>
              <a:t> relies on these names to identify and retrieve values.</a:t>
            </a:r>
          </a:p>
          <a:p>
            <a:pPr algn="just"/>
            <a:endParaRPr lang="en-US" dirty="0"/>
          </a:p>
        </p:txBody>
      </p:sp>
    </p:spTree>
    <p:extLst>
      <p:ext uri="{BB962C8B-B14F-4D97-AF65-F5344CB8AC3E}">
        <p14:creationId xmlns:p14="http://schemas.microsoft.com/office/powerpoint/2010/main" val="1520209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294"/>
        <p:cNvGrpSpPr/>
        <p:nvPr/>
      </p:nvGrpSpPr>
      <p:grpSpPr>
        <a:xfrm>
          <a:off x="0" y="0"/>
          <a:ext cx="0" cy="0"/>
          <a:chOff x="0" y="0"/>
          <a:chExt cx="0" cy="0"/>
        </a:xfrm>
      </p:grpSpPr>
      <p:sp>
        <p:nvSpPr>
          <p:cNvPr id="295" name="Google Shape;295;p16"/>
          <p:cNvSpPr txBox="1">
            <a:spLocks noGrp="1"/>
          </p:cNvSpPr>
          <p:nvPr>
            <p:ph type="ctrTitle"/>
          </p:nvPr>
        </p:nvSpPr>
        <p:spPr>
          <a:xfrm>
            <a:off x="823999" y="352700"/>
            <a:ext cx="7909454" cy="1043400"/>
          </a:xfrm>
          <a:prstGeom prst="rect">
            <a:avLst/>
          </a:prstGeom>
        </p:spPr>
        <p:txBody>
          <a:bodyPr spcFirstLastPara="1" wrap="square" lIns="91425" tIns="91425" rIns="91425" bIns="91425" anchor="ctr" anchorCtr="0">
            <a:normAutofit/>
          </a:bodyPr>
          <a:lstStyle/>
          <a:p>
            <a:r>
              <a:rPr lang="en-US" dirty="0" smtClean="0"/>
              <a:t>Promise</a:t>
            </a:r>
            <a:endParaRPr lang="en-US" dirty="0"/>
          </a:p>
        </p:txBody>
      </p:sp>
      <p:sp>
        <p:nvSpPr>
          <p:cNvPr id="296" name="Google Shape;296;p16"/>
          <p:cNvSpPr txBox="1">
            <a:spLocks noGrp="1"/>
          </p:cNvSpPr>
          <p:nvPr>
            <p:ph type="subTitle" idx="1"/>
          </p:nvPr>
        </p:nvSpPr>
        <p:spPr>
          <a:xfrm>
            <a:off x="824000" y="1203649"/>
            <a:ext cx="7508400" cy="3629608"/>
          </a:xfrm>
          <a:prstGeom prst="rect">
            <a:avLst/>
          </a:prstGeom>
        </p:spPr>
        <p:txBody>
          <a:bodyPr spcFirstLastPara="1" wrap="square" lIns="91425" tIns="91425" rIns="91425" bIns="91425" anchor="t" anchorCtr="0">
            <a:normAutofit/>
          </a:bodyPr>
          <a:lstStyle/>
          <a:p>
            <a:r>
              <a:rPr lang="en-US" dirty="0"/>
              <a:t>Promises in React, like in general JavaScript, are objects representing the eventual completion or failure of an asynchronous operation and its resulting value. They are crucial for handling asynchronous tasks such as data fetching from APIs, file operations, or timers, in a more structured and readable way than traditional callbacks</a:t>
            </a:r>
            <a:r>
              <a:rPr lang="en-US" dirty="0" smtClean="0"/>
              <a:t>.</a:t>
            </a:r>
          </a:p>
          <a:p>
            <a:r>
              <a:rPr lang="en-US" dirty="0"/>
              <a:t>How Promises Work in React:</a:t>
            </a:r>
          </a:p>
          <a:p>
            <a:r>
              <a:rPr lang="en-US" b="1" dirty="0"/>
              <a:t>Creation:</a:t>
            </a:r>
            <a:r>
              <a:rPr lang="en-US" dirty="0"/>
              <a:t> A Promise is created with a new Promise() constructor, which takes an executor function with resolve and reject arguments.</a:t>
            </a:r>
          </a:p>
          <a:p>
            <a:endParaRPr lang="en-US" dirty="0" smtClean="0"/>
          </a:p>
          <a:p>
            <a:r>
              <a:rPr lang="en-US" dirty="0" smtClean="0"/>
              <a:t> </a:t>
            </a:r>
            <a:r>
              <a:rPr lang="en-US" dirty="0" err="1"/>
              <a:t>const</a:t>
            </a:r>
            <a:r>
              <a:rPr lang="en-US" dirty="0"/>
              <a:t> </a:t>
            </a:r>
            <a:r>
              <a:rPr lang="en-US" dirty="0" err="1"/>
              <a:t>myPromise</a:t>
            </a:r>
            <a:r>
              <a:rPr lang="en-US" dirty="0"/>
              <a:t> = new Promise((resolve, reject) =&gt; {      // Asynchronous operation here      if (/* operation successful */) {        resolve("Success!");      } else {        reject("Error!");      }    });</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301"/>
        <p:cNvGrpSpPr/>
        <p:nvPr/>
      </p:nvGrpSpPr>
      <p:grpSpPr>
        <a:xfrm>
          <a:off x="0" y="0"/>
          <a:ext cx="0" cy="0"/>
          <a:chOff x="0" y="0"/>
          <a:chExt cx="0" cy="0"/>
        </a:xfrm>
      </p:grpSpPr>
      <p:sp>
        <p:nvSpPr>
          <p:cNvPr id="302" name="Google Shape;302;p17"/>
          <p:cNvSpPr txBox="1">
            <a:spLocks noGrp="1"/>
          </p:cNvSpPr>
          <p:nvPr>
            <p:ph type="ctrTitle"/>
          </p:nvPr>
        </p:nvSpPr>
        <p:spPr>
          <a:xfrm>
            <a:off x="824000" y="-12"/>
            <a:ext cx="7256310" cy="1872900"/>
          </a:xfrm>
          <a:prstGeom prst="rect">
            <a:avLst/>
          </a:prstGeom>
        </p:spPr>
        <p:txBody>
          <a:bodyPr spcFirstLastPara="1" wrap="square" lIns="91425" tIns="91425" rIns="91425" bIns="91425" anchor="ctr" anchorCtr="0">
            <a:normAutofit/>
          </a:bodyPr>
          <a:lstStyle/>
          <a:p>
            <a:r>
              <a:rPr lang="en-US" dirty="0" err="1" smtClean="0"/>
              <a:t>Async</a:t>
            </a:r>
            <a:r>
              <a:rPr lang="en-US" dirty="0" smtClean="0"/>
              <a:t>/Await</a:t>
            </a:r>
            <a:endParaRPr lang="en-US" dirty="0"/>
          </a:p>
        </p:txBody>
      </p:sp>
      <p:sp>
        <p:nvSpPr>
          <p:cNvPr id="303" name="Google Shape;303;p17"/>
          <p:cNvSpPr txBox="1">
            <a:spLocks noGrp="1"/>
          </p:cNvSpPr>
          <p:nvPr>
            <p:ph type="subTitle" idx="1"/>
          </p:nvPr>
        </p:nvSpPr>
        <p:spPr>
          <a:xfrm>
            <a:off x="824000" y="1513649"/>
            <a:ext cx="7728900" cy="3403583"/>
          </a:xfrm>
          <a:prstGeom prst="rect">
            <a:avLst/>
          </a:prstGeom>
        </p:spPr>
        <p:txBody>
          <a:bodyPr spcFirstLastPara="1" wrap="square" lIns="91425" tIns="91425" rIns="91425" bIns="91425" anchor="t" anchorCtr="0">
            <a:normAutofit/>
          </a:bodyPr>
          <a:lstStyle/>
          <a:p>
            <a:r>
              <a:rPr lang="en-US" dirty="0" err="1"/>
              <a:t>Async</a:t>
            </a:r>
            <a:r>
              <a:rPr lang="en-US" dirty="0"/>
              <a:t>/await is a programming pattern for handling asynchronous operations by allowing developers to write asynchronous code in a style that resembles synchronous, blocking code, making it more readable and maintainable. The </a:t>
            </a:r>
            <a:r>
              <a:rPr lang="en-US" dirty="0" err="1"/>
              <a:t>async</a:t>
            </a:r>
            <a:r>
              <a:rPr lang="en-US" dirty="0"/>
              <a:t> keyword declares a function that returns a Promise, while the await keyword pauses the function's execution until the Promise it's waiting for resolves, yielding the result or throwing an error. This syntax simplifies asynchronous operations without blocking the main thread, enabling efficient non-blocking code.  </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313"/>
        <p:cNvGrpSpPr/>
        <p:nvPr/>
      </p:nvGrpSpPr>
      <p:grpSpPr>
        <a:xfrm>
          <a:off x="0" y="0"/>
          <a:ext cx="0" cy="0"/>
          <a:chOff x="0" y="0"/>
          <a:chExt cx="0" cy="0"/>
        </a:xfrm>
      </p:grpSpPr>
      <p:sp>
        <p:nvSpPr>
          <p:cNvPr id="314" name="Google Shape;314;p19"/>
          <p:cNvSpPr txBox="1">
            <a:spLocks noGrp="1"/>
          </p:cNvSpPr>
          <p:nvPr>
            <p:ph type="ctrTitle"/>
          </p:nvPr>
        </p:nvSpPr>
        <p:spPr>
          <a:xfrm>
            <a:off x="803945" y="708584"/>
            <a:ext cx="4822414" cy="10662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Thanks for reading</a:t>
            </a:r>
            <a:endParaRPr dirty="0"/>
          </a:p>
        </p:txBody>
      </p:sp>
      <p:sp>
        <p:nvSpPr>
          <p:cNvPr id="3" name="Google Shape;309;p18"/>
          <p:cNvSpPr txBox="1">
            <a:spLocks noGrp="1"/>
          </p:cNvSpPr>
          <p:nvPr>
            <p:ph type="subTitle" idx="1"/>
          </p:nvPr>
        </p:nvSpPr>
        <p:spPr>
          <a:xfrm>
            <a:off x="823999" y="1748725"/>
            <a:ext cx="7274971" cy="2543100"/>
          </a:xfrm>
          <a:prstGeom prst="rect">
            <a:avLst/>
          </a:prstGeom>
        </p:spPr>
        <p:txBody>
          <a:bodyPr spcFirstLastPara="1" wrap="square" lIns="91425" tIns="91425" rIns="91425" bIns="91425" anchor="t" anchorCtr="0">
            <a:normAutofit/>
          </a:bodyPr>
          <a:lstStyle/>
          <a:p>
            <a:pPr marL="127000" lvl="0" indent="0" algn="l" rtl="0">
              <a:spcBef>
                <a:spcPts val="0"/>
              </a:spcBef>
              <a:spcAft>
                <a:spcPts val="0"/>
              </a:spcAft>
              <a:buSzPts val="1600"/>
            </a:pPr>
            <a:endParaRPr dirty="0"/>
          </a:p>
        </p:txBody>
      </p:sp>
    </p:spTree>
    <p:extLst>
      <p:ext uri="{BB962C8B-B14F-4D97-AF65-F5344CB8AC3E}">
        <p14:creationId xmlns:p14="http://schemas.microsoft.com/office/powerpoint/2010/main" val="470759697"/>
      </p:ext>
    </p:extLst>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504</TotalTime>
  <Words>134</Words>
  <Application>Microsoft Office PowerPoint</Application>
  <PresentationFormat>On-screen Show (16:9)</PresentationFormat>
  <Paragraphs>26</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Maven Pro</vt:lpstr>
      <vt:lpstr>Nunito</vt:lpstr>
      <vt:lpstr>Montserrat</vt:lpstr>
      <vt:lpstr>Momentum</vt:lpstr>
      <vt:lpstr>Advanced Frontend Development Asynchronos React Task 6</vt:lpstr>
      <vt:lpstr>What is Asyncronous React?</vt:lpstr>
      <vt:lpstr>JSON</vt:lpstr>
      <vt:lpstr>FormData</vt:lpstr>
      <vt:lpstr>Promise</vt:lpstr>
      <vt:lpstr>Async/Await</vt:lpstr>
      <vt:lpstr>Thanks for reading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Frontend Development ES6 Features Task 1</dc:title>
  <cp:lastModifiedBy>Abu-sufyan</cp:lastModifiedBy>
  <cp:revision>22</cp:revision>
  <dcterms:modified xsi:type="dcterms:W3CDTF">2025-10-20T08:12:06Z</dcterms:modified>
</cp:coreProperties>
</file>